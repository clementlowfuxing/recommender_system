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CDWC Diagnostic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3C5FD"/>
                </a:solidFill>
                <a:latin typeface="Calibri"/>
              </a:defRPr>
            </a:pPr>
            <a:r>
              <a:t>High-Level Architecture &amp; Scoring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4748B"/>
                </a:solidFill>
                <a:latin typeface="Calibri"/>
              </a:defRPr>
            </a:pPr>
            <a:r>
              <a:t>How the Engine Turns SMA &amp; TPCP Data into Diagnostic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BBF24"/>
                </a:solidFill>
                <a:latin typeface="Calibri"/>
              </a:defRPr>
            </a:pPr>
            <a:r>
              <a:t>Diagnosis only  ·  Block-level rollups only  ·  Action triage out of scope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Calibri"/>
              </a:defRPr>
            </a:pPr>
            <a:r>
              <a:t>End-to-End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From HOD/GM question → to data sources → to scoring → to diagnostic JSON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11247120" cy="822960"/>
          </a:xfrm>
          <a:prstGeom prst="roundRect">
            <a:avLst/>
          </a:prstGeom>
          <a:solidFill>
            <a:srgbClr val="F3E8FF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① PRESENTATION LAYER   ·   HOD/GM asks a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11247120" cy="822960"/>
          </a:xfrm>
          <a:prstGeom prst="roundRect">
            <a:avLst/>
          </a:prstGeom>
          <a:solidFill>
            <a:srgbClr val="F0F7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② CONVERSATION LAYER   ·   NL parser + narrative formatter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11247120" cy="82296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③ API LAYER   ·   FastAPI endpoints route the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43400"/>
            <a:ext cx="11247120" cy="822960"/>
          </a:xfrm>
          <a:prstGeom prst="roundRect">
            <a:avLst/>
          </a:prstGeom>
          <a:solidFill>
            <a:srgbClr val="D1FAE5"/>
          </a:solidFill>
          <a:ln w="158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④ ENGINE LAYER   ·   join → scope → score → analyze   (PURE JSON OUT — DIAGNOSIS ONLY)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303520"/>
            <a:ext cx="11247120" cy="82296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⑤ DATA LAYER   ·   DUMMY_SMA_HRIS_sample.json  +  DUMMY_TPCP_Assessment_sample.json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2951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Calibri"/>
              </a:defRPr>
            </a:pPr>
            <a:r>
              <a:t>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2552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Calibri"/>
              </a:defRPr>
            </a:pPr>
            <a:r>
              <a:t>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153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Calibri"/>
              </a:defRPr>
            </a:pPr>
            <a:r>
              <a:t>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5175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4748B"/>
                </a:solidFill>
                <a:latin typeface="Calibri"/>
              </a:defRPr>
            </a:pPr>
            <a:r>
              <a:t>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563EB"/>
                </a:solidFill>
                <a:latin typeface="Calibri"/>
              </a:defRPr>
            </a:pPr>
            <a:r>
              <a:t>Engine layer never formats prose. It emits structured diagnostic JSON; action recommendations are handled by a separate future layer.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Calibri"/>
              </a:defRPr>
            </a:pPr>
            <a:r>
              <a:t>Data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Two source files, full-outer-join on dummy_id → unified employee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4754880" cy="29260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Calibri"/>
              </a:defRPr>
            </a:pPr>
            <a:r>
              <a:t>DUMMY_SMA_HRIS_sample.json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9,455 employees  (1 row per person)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dummy_id, employee_name, superior_name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skill_group, job_grade, salary_grade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year_in_sg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sma_completion_status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overall_cbs_pct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technical_cbs_pct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leadership_cbs_pct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600200"/>
            <a:ext cx="4754880" cy="2926080"/>
          </a:xfrm>
          <a:prstGeom prst="roundRect">
            <a:avLst/>
          </a:prstGeom>
          <a:solidFill>
            <a:srgbClr val="F3E8FF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17373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Calibri"/>
              </a:defRPr>
            </a:pPr>
            <a:r>
              <a:t>DUMMY_TPCP_Assessment_sample.json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1488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1,018 assessments  (1 row per person)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56032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dummy_id, employee_name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business, opu, division, skill_group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discipline, sub_discipline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assessment_level, qualified_level, passed_tpcp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base_pct, key_pct, pacing_pct, emerging_pct, cti_met_pct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assessment_date   (per-cell b/k/p/e fields NOT consumed)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12080" y="3017520"/>
            <a:ext cx="640080" cy="0"/>
          </a:xfrm>
          <a:prstGeom prst="line">
            <a:avLst/>
          </a:prstGeom>
          <a:ln w="31750">
            <a:solidFill>
              <a:srgbClr val="2563E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309360" y="3017520"/>
            <a:ext cx="640080" cy="0"/>
          </a:xfrm>
          <a:prstGeom prst="line">
            <a:avLst/>
          </a:prstGeom>
          <a:ln w="31750">
            <a:solidFill>
              <a:srgbClr val="7C3AED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212080" y="2651760"/>
            <a:ext cx="1737360" cy="731520"/>
          </a:xfrm>
          <a:prstGeom prst="roundRect">
            <a:avLst/>
          </a:prstGeom>
          <a:solidFill>
            <a:srgbClr val="FEF9C3"/>
          </a:solidFill>
          <a:ln w="1587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2743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A8A04"/>
                </a:solidFill>
                <a:latin typeface="Calibri"/>
              </a:defRPr>
            </a:pPr>
            <a:r>
              <a:t>FULL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0632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on dummy_id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4846320"/>
            <a:ext cx="9418320" cy="1554480"/>
          </a:xfrm>
          <a:prstGeom prst="roundRect">
            <a:avLst/>
          </a:prstGeom>
          <a:solidFill>
            <a:srgbClr val="D1FAE5"/>
          </a:solidFill>
          <a:ln w="158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937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9669"/>
                </a:solidFill>
                <a:latin typeface="Calibri"/>
              </a:defRPr>
            </a:pPr>
            <a:r>
              <a:t>Unified Employee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34924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has_hris + has_tpcp flags preserved — BOTH (full signal)  ·  HRIS-only (CBS only)  ·  TPCP-only (edge case)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Each record carries identity + org hierarchy + CBS block + TPCP rollups (base/key/pacing/emerging %, cti_met 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Calibri"/>
              </a:defRPr>
            </a:pPr>
            <a:r>
              <a:t>Engine Pipeline — 4 Stages (Diagnosis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Every query flows through these stages; outputs are pure diagnostic JSON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651760" cy="2926080"/>
          </a:xfrm>
          <a:prstGeom prst="roundRect">
            <a:avLst/>
          </a:prstGeom>
          <a:solidFill>
            <a:srgbClr val="CCFBF1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37360"/>
            <a:ext cx="457200" cy="457200"/>
          </a:xfrm>
          <a:prstGeom prst="ellipse">
            <a:avLst/>
          </a:prstGeom>
          <a:solidFill>
            <a:srgbClr val="0D9488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105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1051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Load &amp; Join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Calibri"/>
              </a:defRPr>
            </a:pPr>
            <a:r>
              <a:t>Ingest HRIS + TPCP.</a:t>
            </a:r>
            <a:br/>
            <a:r>
              <a:t>Full-outer-join on</a:t>
            </a:r>
            <a:br/>
            <a:r>
              <a:t>dummy_id. Flag each</a:t>
            </a:r>
            <a:br/>
            <a:r>
              <a:t>record has_hris / has_tpcp.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8346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554480"/>
            <a:ext cx="2651760" cy="292608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20440" y="1737360"/>
            <a:ext cx="457200" cy="457200"/>
          </a:xfrm>
          <a:prstGeom prst="ellipse">
            <a:avLst/>
          </a:prstGeom>
          <a:solidFill>
            <a:srgbClr val="DC2626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8105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81051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Scope 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6888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Calibri"/>
              </a:defRPr>
            </a:pPr>
            <a:r>
              <a:t>Apply mandatory org filter:</a:t>
            </a:r>
            <a:br/>
            <a:r>
              <a:t>business · opu · division.</a:t>
            </a:r>
            <a:br/>
            <a:r>
              <a:t>Resulting team = scoped</a:t>
            </a:r>
            <a:br/>
            <a:r>
              <a:t>pool. Signal, not gate.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8346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554480"/>
            <a:ext cx="2651760" cy="29260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105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181051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Per-Person 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46888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Calibri"/>
              </a:defRPr>
            </a:pPr>
            <a:r>
              <a:t>Compute 5 health scores</a:t>
            </a:r>
            <a:br/>
            <a:r>
              <a:t>for every scoped employee.</a:t>
            </a:r>
            <a:br/>
            <a:r>
              <a:t>All scores are 0–1.</a:t>
            </a:r>
            <a:br/>
            <a:r>
              <a:t>Fallbacks for missing 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283464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554480"/>
            <a:ext cx="2651760" cy="2926080"/>
          </a:xfrm>
          <a:prstGeom prst="roundRect">
            <a:avLst/>
          </a:prstGeom>
          <a:solidFill>
            <a:srgbClr val="FEF9C3"/>
          </a:solidFill>
          <a:ln w="1587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81160" y="1737360"/>
            <a:ext cx="457200" cy="457200"/>
          </a:xfrm>
          <a:prstGeom prst="ellipse">
            <a:avLst/>
          </a:prstGeom>
          <a:solidFill>
            <a:srgbClr val="CA8A04"/>
          </a:solidFill>
          <a:ln w="1587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18105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181051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Analysis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46888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Calibri"/>
              </a:defRPr>
            </a:pPr>
            <a:r>
              <a:t>Run 2 parallel analyses:</a:t>
            </a:r>
            <a:br/>
            <a:r>
              <a:t>• Team aggregate rollup</a:t>
            </a:r>
            <a:br/>
            <a:r>
              <a:t>• Individual drill-down</a:t>
            </a:r>
            <a:br/>
            <a:r>
              <a:t>(flags + lists)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54880"/>
            <a:ext cx="11247120" cy="1645920"/>
          </a:xfrm>
          <a:prstGeom prst="roundRect">
            <a:avLst/>
          </a:prstGeom>
          <a:solidFill>
            <a:srgbClr val="F0F7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Calibri"/>
              </a:defRPr>
            </a:pPr>
            <a:r>
              <a:t>Which stage answers which question?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035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Stage 1–2  →  'Who is in my scope?'  'Who has HRIS but no TPCP?'  'Team size after filter?'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Stage 3    →  'Who has not completed TPCP?'  'Individual scorecards'  'What is their combined score?'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Stage 4    →  'Team TPCP performance?'  'Which block is weakest?'  'Who is promotable?'  'Who are the low performers?'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Calibri"/>
              </a:defRPr>
            </a:pPr>
            <a:r>
              <a:t>Per-Person Scoring — Inputs to 5 Health Scores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Each employee becomes a 5-dimensional health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2926080" cy="4846320"/>
          </a:xfrm>
          <a:prstGeom prst="roundRect">
            <a:avLst/>
          </a:prstGeom>
          <a:solidFill>
            <a:srgbClr val="F0F7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INPUT FIELDS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2560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FROM HRIS: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overall_cbs_pct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technical_cbs_pct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leadership_cbs_pct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job_grade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year_in_sg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FROM TPCP: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cti_met_pct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base_pct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key_pct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pacing_pct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emerging_pct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passed_tpcp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assessment_level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(per-cell b/k/p/e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fields excluded)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737360"/>
            <a:ext cx="2743200" cy="14630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18288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1. TPCP 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2402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cti_met_pct, base, key,</a:t>
            </a:r>
            <a:br/>
            <a:r>
              <a:t>pacing, emerging, pass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737360"/>
            <a:ext cx="2743200" cy="1463040"/>
          </a:xfrm>
          <a:prstGeom prst="roundRect">
            <a:avLst/>
          </a:prstGeom>
          <a:solidFill>
            <a:srgbClr val="F3E8FF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2. CBS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2402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technical_cbs +</a:t>
            </a:r>
            <a:br/>
            <a:r>
              <a:t>overall_cbs +</a:t>
            </a:r>
            <a:br/>
            <a:r>
              <a:t>leadership_cbs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737360"/>
            <a:ext cx="2743200" cy="1463040"/>
          </a:xfrm>
          <a:prstGeom prst="roundRect">
            <a:avLst/>
          </a:prstGeom>
          <a:solidFill>
            <a:srgbClr val="D1FAE5"/>
          </a:solidFill>
          <a:ln w="158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4040" y="18288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3. Combined Competency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24028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0.55 × TPCP</a:t>
            </a:r>
            <a:br/>
            <a:r>
              <a:t>+ 0.45 × CBS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6340" y="3474720"/>
            <a:ext cx="2743200" cy="1463040"/>
          </a:xfrm>
          <a:prstGeom prst="roundRect">
            <a:avLst/>
          </a:prstGeom>
          <a:solidFill>
            <a:srgbClr val="FEF9C3"/>
          </a:solidFill>
          <a:ln w="1587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350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4. Grade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3500" y="397764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job_grade ↔</a:t>
            </a:r>
            <a:br/>
            <a:r>
              <a:t>assessment_level</a:t>
            </a:r>
            <a:br/>
            <a:r>
              <a:t>alignment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86700" y="3474720"/>
            <a:ext cx="2743200" cy="1463040"/>
          </a:xfrm>
          <a:prstGeom prst="roundRect">
            <a:avLst/>
          </a:prstGeom>
          <a:solidFill>
            <a:srgbClr val="CCFBF1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2386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5. Tenure Readiness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3860" y="397764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year_in_sg /</a:t>
            </a:r>
            <a:br/>
            <a:r>
              <a:t>grade_threshold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252960" y="1554480"/>
            <a:ext cx="2377440" cy="48463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435840" y="16916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35840" y="210312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Consolas"/>
              </a:defRPr>
            </a:pPr>
            <a:r>
              <a:t>{</a:t>
            </a:r>
            <a:br/>
            <a:r>
              <a:t>  "dummy_id": 23267,</a:t>
            </a:r>
            <a:br/>
            <a:r>
              <a:t>  "tpcp_health": 0.78,</a:t>
            </a:r>
            <a:br/>
            <a:r>
              <a:t>  "cbs_health": 0.64,</a:t>
            </a:r>
            <a:br/>
            <a:r>
              <a:t>  "combined_competency":</a:t>
            </a:r>
            <a:br/>
            <a:r>
              <a:t>    0.72,</a:t>
            </a:r>
            <a:br/>
            <a:r>
              <a:t>  "grade_fit": 1.0,</a:t>
            </a:r>
            <a:br/>
            <a:r>
              <a:t>  "tenure_readiness":</a:t>
            </a:r>
            <a:br/>
            <a:r>
              <a:t>    0.85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Calibri"/>
              </a:defRPr>
            </a:pPr>
            <a:r>
              <a:t>How Each Score Is Computed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Every formula is deterministic, traceable, and tunable via config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3749039" cy="23774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Calibri"/>
              </a:defRPr>
            </a:pPr>
            <a:r>
              <a:t>1. TPCP Health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34747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tpcp_health =</a:t>
            </a:r>
            <a:br/>
            <a:r>
              <a:t>   0.6 × cti_met_pct</a:t>
            </a:r>
            <a:br/>
            <a:r>
              <a:t> + 0.4 × avg(base_pct, key_pct,</a:t>
            </a:r>
            <a:br/>
            <a:r>
              <a:t>            pacing_pct, emerging_pct)</a:t>
            </a:r>
            <a:br/>
            <a:r>
              <a:t> + 0.1 if passed_tpcp = 'Y'</a:t>
            </a:r>
            <a:br/>
            <a:r>
              <a:t> (capped at 1.0)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42900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Calibri"/>
              </a:defRPr>
            </a:pPr>
            <a:r>
              <a:t>→ 0 if no TPCP 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39" y="1463040"/>
            <a:ext cx="3749039" cy="2377440"/>
          </a:xfrm>
          <a:prstGeom prst="roundRect">
            <a:avLst/>
          </a:prstGeom>
          <a:solidFill>
            <a:srgbClr val="F3E8FF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55448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Calibri"/>
              </a:defRPr>
            </a:pPr>
            <a:r>
              <a:t>2. CBS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399" y="1965960"/>
            <a:ext cx="34747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cbs_health =</a:t>
            </a:r>
            <a:br/>
            <a:r>
              <a:t>   0.5 × technical_cbs_pct</a:t>
            </a:r>
            <a:br/>
            <a:r>
              <a:t> + 0.3 × overall_cbs_pct</a:t>
            </a:r>
            <a:br/>
            <a:r>
              <a:t> + 0.2 × leadership_cbs_pct</a:t>
            </a:r>
            <a:br/>
            <a:r>
              <a:t> (weights rebalance if a</a:t>
            </a:r>
            <a:br/>
            <a:r>
              <a:t>  dimension is missing)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399" y="342900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C3AED"/>
                </a:solidFill>
                <a:latin typeface="Calibri"/>
              </a:defRPr>
            </a:pPr>
            <a:r>
              <a:t>→ available to all HRIS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8" y="1463040"/>
            <a:ext cx="3749039" cy="2377440"/>
          </a:xfrm>
          <a:prstGeom prst="roundRect">
            <a:avLst/>
          </a:prstGeom>
          <a:solidFill>
            <a:srgbClr val="D1FAE5"/>
          </a:solidFill>
          <a:ln w="158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8" y="155448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Calibri"/>
              </a:defRPr>
            </a:pPr>
            <a:r>
              <a:t>3. Combined Competency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8" y="1965960"/>
            <a:ext cx="34747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combined_competency =</a:t>
            </a:r>
            <a:br/>
            <a:r>
              <a:t>   0.55 × tpcp_health</a:t>
            </a:r>
            <a:br/>
            <a:r>
              <a:t> + 0.45 × cbs_health</a:t>
            </a:r>
            <a:br/>
            <a:br/>
            <a:r>
              <a:t> (if one input is 0 →</a:t>
            </a:r>
            <a:br/>
            <a:r>
              <a:t>  combined = the other)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8" y="342900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Calibri"/>
              </a:defRPr>
            </a:pPr>
            <a:r>
              <a:t>→ primary ranking score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5999" y="4023360"/>
            <a:ext cx="3749039" cy="2377440"/>
          </a:xfrm>
          <a:prstGeom prst="roundRect">
            <a:avLst/>
          </a:prstGeom>
          <a:solidFill>
            <a:srgbClr val="FEF9C3"/>
          </a:solidFill>
          <a:ln w="1587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23159" y="411480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Calibri"/>
              </a:defRPr>
            </a:pPr>
            <a:r>
              <a:t>4. Grade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59" y="4526280"/>
            <a:ext cx="34747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Expected level by grade:</a:t>
            </a:r>
            <a:br/>
            <a:r>
              <a:t>  P1–P3 → Staff</a:t>
            </a:r>
            <a:br/>
            <a:r>
              <a:t>  P4–P6 → Principal</a:t>
            </a:r>
            <a:br/>
            <a:r>
              <a:t>  P7+   → Custodian</a:t>
            </a:r>
            <a:br/>
            <a:br/>
            <a:r>
              <a:t>Exact=1.0  Over=0.5  Under=0.0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59" y="598932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A8A04"/>
                </a:solidFill>
                <a:latin typeface="Calibri"/>
              </a:defRPr>
            </a:pPr>
            <a:r>
              <a:t>→ flags grade/level misalignment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78" y="4023360"/>
            <a:ext cx="3749039" cy="2377440"/>
          </a:xfrm>
          <a:prstGeom prst="roundRect">
            <a:avLst/>
          </a:prstGeom>
          <a:solidFill>
            <a:srgbClr val="CCFBF1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38" y="411480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Calibri"/>
              </a:defRPr>
            </a:pPr>
            <a:r>
              <a:t>5. Tenure Readiness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38" y="4526280"/>
            <a:ext cx="347471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Grade tenure thresholds:</a:t>
            </a:r>
            <a:br/>
            <a:r>
              <a:t>  P1–P3 → 3 yrs</a:t>
            </a:r>
            <a:br/>
            <a:r>
              <a:t>  P4–P6 → 4 yrs</a:t>
            </a:r>
            <a:br/>
            <a:r>
              <a:t>  P7+   → 5 yrs</a:t>
            </a:r>
            <a:br/>
            <a:br/>
            <a:r>
              <a:t>score = min(year_in_sg /</a:t>
            </a:r>
            <a:br/>
            <a:r>
              <a:t>            threshold, 1.0)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38" y="5989320"/>
            <a:ext cx="3474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D9488"/>
                </a:solidFill>
                <a:latin typeface="Calibri"/>
              </a:defRPr>
            </a:pPr>
            <a:r>
              <a:t>→ gates promotability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Calibri"/>
              </a:defRPr>
            </a:pPr>
            <a:r>
              <a:t>Worked Example — Single Employee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Tracing one record through the scoring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508760"/>
            <a:ext cx="3657600" cy="493776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INPUT  (from joined record)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3383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onsolas"/>
              </a:defRPr>
            </a:pPr>
            <a:r>
              <a:t>dummy_id            : 23267</a:t>
            </a:r>
            <a:br/>
            <a:r>
              <a:t>job_grade           : P4</a:t>
            </a:r>
            <a:br/>
            <a:r>
              <a:t>year_in_sg          : 4.2</a:t>
            </a:r>
            <a:br/>
            <a:br/>
            <a:r>
              <a:t>From HRIS</a:t>
            </a:r>
            <a:br/>
            <a:r>
              <a:t>  overall_cbs_pct   : 0.65</a:t>
            </a:r>
            <a:br/>
            <a:r>
              <a:t>  technical_cbs_pct : 0.70</a:t>
            </a:r>
            <a:br/>
            <a:r>
              <a:t>  leadership_cbs_pct: 0.55</a:t>
            </a:r>
            <a:br/>
            <a:br/>
            <a:r>
              <a:t>From TPCP</a:t>
            </a:r>
            <a:br/>
            <a:r>
              <a:t>  assessment_level  : Principal</a:t>
            </a:r>
            <a:br/>
            <a:r>
              <a:t>  passed_tpcp       : Y</a:t>
            </a:r>
            <a:br/>
            <a:r>
              <a:t>  cti_met_pct       : 0.83</a:t>
            </a:r>
            <a:br/>
            <a:r>
              <a:t>  base_pct          : 0.75</a:t>
            </a:r>
            <a:br/>
            <a:r>
              <a:t>  key_pct           : 0.70</a:t>
            </a:r>
            <a:br/>
            <a:r>
              <a:t>  pacing_pct        : 0.60</a:t>
            </a:r>
            <a:br/>
            <a:r>
              <a:t>  emerging_pct      : 0.80</a:t>
            </a:r>
            <a:br/>
            <a:br/>
            <a:r>
              <a:t>(per-cell fields ignored)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36576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508760"/>
            <a:ext cx="4114800" cy="4937760"/>
          </a:xfrm>
          <a:prstGeom prst="roundRect">
            <a:avLst/>
          </a:prstGeom>
          <a:solidFill>
            <a:srgbClr val="F0F7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600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Calibri"/>
              </a:defRPr>
            </a:pPr>
            <a:r>
              <a:t>COMPUTATION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011680"/>
            <a:ext cx="3840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tpcp_avg = mean(0.75, 0.70,</a:t>
            </a:r>
            <a:br/>
            <a:r>
              <a:t>                0.60, 0.80) = 0.7125</a:t>
            </a:r>
            <a:br/>
            <a:r>
              <a:t>tpcp_health = 0.6 × 0.83</a:t>
            </a:r>
            <a:br/>
            <a:r>
              <a:t>            + 0.4 × 0.7125</a:t>
            </a:r>
            <a:br/>
            <a:r>
              <a:t>            + 0.1 (passed)</a:t>
            </a:r>
            <a:br/>
            <a:r>
              <a:t>            = 0.49 + 0.285 + 0.1</a:t>
            </a:r>
            <a:br/>
            <a:r>
              <a:t>            = 0.87  (capped 1.0)</a:t>
            </a:r>
            <a:br/>
            <a:br/>
            <a:r>
              <a:t>cbs_health = 0.5 × 0.70</a:t>
            </a:r>
            <a:br/>
            <a:r>
              <a:t>           + 0.3 × 0.65</a:t>
            </a:r>
            <a:br/>
            <a:r>
              <a:t>           + 0.2 × 0.55</a:t>
            </a:r>
            <a:br/>
            <a:r>
              <a:t>           = 0.35+0.195+0.11 = 0.65</a:t>
            </a:r>
            <a:br/>
            <a:br/>
            <a:r>
              <a:t>combined_competency</a:t>
            </a:r>
            <a:br/>
            <a:r>
              <a:t>         = 0.55 × 0.87</a:t>
            </a:r>
            <a:br/>
            <a:r>
              <a:t>         + 0.45 × 0.65</a:t>
            </a:r>
            <a:br/>
            <a:r>
              <a:t>         = 0.48 + 0.29 = 0.77</a:t>
            </a:r>
            <a:br/>
            <a:br/>
            <a:r>
              <a:t>grade_fit  : P4 → Principal ✓  = 1.0</a:t>
            </a:r>
            <a:br/>
            <a:r>
              <a:t>tenure     : 4.2/4.0 capped    = 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6576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1508760"/>
            <a:ext cx="2560320" cy="493776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OUTPUT (JSON)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201168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onsolas"/>
              </a:defRPr>
            </a:pPr>
            <a:r>
              <a:t>{</a:t>
            </a:r>
            <a:br/>
            <a:r>
              <a:t>  "tpcp_health": 0.87,</a:t>
            </a:r>
            <a:br/>
            <a:r>
              <a:t>  "cbs_health": 0.65,</a:t>
            </a:r>
            <a:br/>
            <a:r>
              <a:t>  "combined_competency":</a:t>
            </a:r>
            <a:br/>
            <a:r>
              <a:t>    0.77,</a:t>
            </a:r>
            <a:br/>
            <a:r>
              <a:t>  "grade_fit": 1.0,</a:t>
            </a:r>
            <a:br/>
            <a:r>
              <a:t>  "tenure_readiness":</a:t>
            </a:r>
            <a:br/>
            <a:r>
              <a:t>    1.0,</a:t>
            </a:r>
            <a:br/>
            <a:r>
              <a:t>  "promotable": true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Calibri"/>
              </a:defRPr>
            </a:pPr>
            <a:r>
              <a:t>From Per-Person Scores to Team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Stage 4 runs 2 analyses in parallel over the scored population — engine stops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63440" y="1554480"/>
            <a:ext cx="2926080" cy="10058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Scored 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057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3C5FD"/>
                </a:solidFill>
                <a:latin typeface="Calibri"/>
              </a:defRPr>
            </a:pPr>
            <a:r>
              <a:t>N employees × 5 scores each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2560320"/>
            <a:ext cx="3383280" cy="64008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26480" y="2560320"/>
            <a:ext cx="3383280" cy="64008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05840" y="3108960"/>
            <a:ext cx="4389120" cy="3520440"/>
          </a:xfrm>
          <a:prstGeom prst="roundRect">
            <a:avLst/>
          </a:prstGeom>
          <a:solidFill>
            <a:srgbClr val="F3E8FF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461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E293B"/>
                </a:solidFill>
                <a:latin typeface="Calibri"/>
              </a:defRPr>
            </a:pPr>
            <a:r>
              <a:t>A. Team Aggregate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03320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Headline team statistics: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team_size, assessed_count,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not_assessed_count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pass_rate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level_distribution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(Staff, Principal, Custodian,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Not TP)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avg_combined_competency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avg_tpcp_health, avg_cbs_health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weakest_dimension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(base / key / pacing / emerging —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 the block-level rollup with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 the lowest team mean)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ANSWERS: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How did my team perform?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Enough Staff/Principal?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Who hasn't completed TPCP?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Which block is weakest?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3108960"/>
            <a:ext cx="4389120" cy="352044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32461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E293B"/>
                </a:solidFill>
                <a:latin typeface="Calibri"/>
              </a:defRPr>
            </a:pPr>
            <a:r>
              <a:t>B. Individual Drill-Down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703320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Per-employee flags and lists: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low_performers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combined_competency &lt; 0.50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promotable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combined ≥ 0.75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AND tenure_readiness ≥ 1.0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AND passed_tpcp = 'Y'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AND grade_fit ∈ {0.5, 1.0}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close_in_6m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0.65 ≤ combined &lt; 0.75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not_assessed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   has_tpcp = false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ANSWERS: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Who is promotable?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Who are the low performers?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Calibri"/>
              </a:defRPr>
            </a:pPr>
            <a:r>
              <a:t>• Who is close in 6 months?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Calibri"/>
              </a:defRPr>
            </a:pPr>
            <a:r>
              <a:t>Engine Response — The JSON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One structured document per query — no prose, only enumerated tokens and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3840480" cy="4846320"/>
          </a:xfrm>
          <a:prstGeom prst="roundRect">
            <a:avLst/>
          </a:prstGeom>
          <a:solidFill>
            <a:srgbClr val="F0F7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  <a:latin typeface="Calibri"/>
              </a:defRPr>
            </a:pPr>
            <a:r>
              <a:t>TOP-LEVEL FIELDS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3566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scope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 business, opu, division, team_size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join_summary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 both / hris_only / tpcp_only counts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team_aggregate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 pass_rate, level_distribution,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 avg_combined, avg_tpcp, avg_cbs,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 weakest_dimension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individual_drill_down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 low_performers, promotable,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 close_in_6m, not_assessed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• employee_health[]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 one 5-score vector per person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NO gap_matrix field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NO actions 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554480"/>
            <a:ext cx="7315200" cy="48463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4592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EXAMPLE ENGINE_RESPONSE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0574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Consolas"/>
              </a:defRPr>
            </a:pPr>
            <a:r>
              <a:t>{</a:t>
            </a:r>
            <a:br/>
            <a:r>
              <a:t>  "scope": {"business":"Upstream","opu":"PCSB-DR","division":"Drilling","team_size":47},</a:t>
            </a:r>
            <a:br/>
            <a:r>
              <a:t>  "join_summary": {"both":42, "hris_only":4, "tpcp_only":1},</a:t>
            </a:r>
            <a:br/>
            <a:r>
              <a:t>  "team_aggregate": {</a:t>
            </a:r>
            <a:br/>
            <a:r>
              <a:t>    "assessed_count":42, "not_assessed_count":5,</a:t>
            </a:r>
            <a:br/>
            <a:r>
              <a:t>    "pass_rate":0.7619, "level_distribution":{"Staff":18,"Principal":20,"Custodian":4,"Not TP":0},</a:t>
            </a:r>
            <a:br/>
            <a:r>
              <a:t>    "avg_combined_competency":0.68, "avg_tpcp_health":0.72, "avg_cbs_health":0.63,</a:t>
            </a:r>
            <a:br/>
            <a:r>
              <a:t>    "weakest_dimension":"pacing"</a:t>
            </a:r>
            <a:br/>
            <a:r>
              <a:t>  },</a:t>
            </a:r>
            <a:br/>
            <a:r>
              <a:t>  "individual_drill_down": {</a:t>
            </a:r>
            <a:br/>
            <a:r>
              <a:t>    "low_performers":[{"dummy_id":30112,"combined_competency":0.41}],</a:t>
            </a:r>
            <a:br/>
            <a:r>
              <a:t>    "promotable":[{"dummy_id":23267,"combined_competency":0.77}],</a:t>
            </a:r>
            <a:br/>
            <a:r>
              <a:t>    "close_in_6m":[{"dummy_id":28504,"combined_competency":0.68}],</a:t>
            </a:r>
            <a:br/>
            <a:r>
              <a:t>    "not_assessed":[{"dummy_id":40301,"sma_completion_status":"N"}]</a:t>
            </a:r>
            <a:br/>
            <a:r>
              <a:t>  },</a:t>
            </a:r>
            <a:br/>
            <a:r>
              <a:t>  "employee_health":[</a:t>
            </a:r>
            <a:br/>
            <a:r>
              <a:t>    {"dummy_id":23267,"tpcp_health":0.87,"cbs_health":0.65,</a:t>
            </a:r>
            <a:br/>
            <a:r>
              <a:t>     "combined_competency":0.77,"grade_fit":1.0,"tenure_readiness":1.0},</a:t>
            </a:r>
            <a:br/>
            <a:r>
              <a:t>    ...  47 entries total</a:t>
            </a:r>
            <a:br/>
            <a:r>
              <a:t>  ]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Calibri"/>
              </a:defRPr>
            </a:pPr>
            <a:r>
              <a:t>Full Request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One user question walked through every layer — engine returns diagnostic JSON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1371600"/>
            <a:ext cx="640080" cy="621792"/>
          </a:xfrm>
          <a:prstGeom prst="ellipse">
            <a:avLst/>
          </a:prstGeom>
          <a:solidFill>
            <a:srgbClr val="7C3AED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1371600"/>
            <a:ext cx="10424160" cy="621792"/>
          </a:xfrm>
          <a:prstGeom prst="roundRect">
            <a:avLst/>
          </a:prstGeom>
          <a:solidFill>
            <a:srgbClr val="F3E8FF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4264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Calibri"/>
              </a:defRPr>
            </a:pPr>
            <a:r>
              <a:t>HOD asks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73352"/>
            <a:ext cx="10058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E293B"/>
                </a:solidFill>
                <a:latin typeface="Consolas"/>
              </a:defRPr>
            </a:pPr>
            <a:r>
              <a:t>"Which of my principals in PCSB-DR Drilling</a:t>
            </a:r>
            <a:br/>
            <a:r>
              <a:t>are promotable, and who is falling behind?"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048256"/>
            <a:ext cx="640080" cy="621792"/>
          </a:xfrm>
          <a:prstGeom prst="ellipse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128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0" y="2048256"/>
            <a:ext cx="10424160" cy="621792"/>
          </a:xfrm>
          <a:prstGeom prst="roundRect">
            <a:avLst/>
          </a:prstGeom>
          <a:solidFill>
            <a:srgbClr val="F0F7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21031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Calibri"/>
              </a:defRPr>
            </a:pPr>
            <a:r>
              <a:t>Chat parser extracts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350008"/>
            <a:ext cx="10058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E293B"/>
                </a:solidFill>
                <a:latin typeface="Consolas"/>
              </a:defRPr>
            </a:pPr>
            <a:r>
              <a:t>business=Upstream, opu=PCSB-DR, division=Drilling,</a:t>
            </a:r>
            <a:br/>
            <a:r>
              <a:t>question_type=promotability+low_performers, filter=assessment_level:Principal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2724912"/>
            <a:ext cx="640080" cy="621792"/>
          </a:xfrm>
          <a:prstGeom prst="ellipse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88950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0160" y="2724912"/>
            <a:ext cx="10424160" cy="621792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77977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Calibri"/>
              </a:defRPr>
            </a:pPr>
            <a:r>
              <a:t>API routes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026664"/>
            <a:ext cx="10058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E293B"/>
                </a:solidFill>
                <a:latin typeface="Consolas"/>
              </a:defRPr>
            </a:pPr>
            <a:r>
              <a:t>POST /team/analyze  →  Engine.run(scope)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3401568"/>
            <a:ext cx="640080" cy="621792"/>
          </a:xfrm>
          <a:prstGeom prst="ellipse">
            <a:avLst/>
          </a:prstGeom>
          <a:solidFill>
            <a:srgbClr val="0D9488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5661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3401568"/>
            <a:ext cx="10424160" cy="621792"/>
          </a:xfrm>
          <a:prstGeom prst="roundRect">
            <a:avLst/>
          </a:prstGeom>
          <a:solidFill>
            <a:srgbClr val="CCFBF1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Calibri"/>
              </a:defRPr>
            </a:pPr>
            <a:r>
              <a:t>Engine — load +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03320"/>
            <a:ext cx="10058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E293B"/>
                </a:solidFill>
                <a:latin typeface="Consolas"/>
              </a:defRPr>
            </a:pPr>
            <a:r>
              <a:t>HRIS ⋈ TPCP full-outer-join on dummy_id; flag has_hris / has_tpcp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4078224"/>
            <a:ext cx="640080" cy="621792"/>
          </a:xfrm>
          <a:prstGeom prst="ellipse">
            <a:avLst/>
          </a:prstGeom>
          <a:solidFill>
            <a:srgbClr val="DC2626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4281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80160" y="4078224"/>
            <a:ext cx="10424160" cy="621792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040" y="41330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Calibri"/>
              </a:defRPr>
            </a:pPr>
            <a:r>
              <a:t>Engine — scope filter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4379976"/>
            <a:ext cx="10058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E293B"/>
                </a:solidFill>
                <a:latin typeface="Consolas"/>
              </a:defRPr>
            </a:pPr>
            <a:r>
              <a:t>Keep rows where business/opu/division match → 47 candidates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" y="4754880"/>
            <a:ext cx="640080" cy="621792"/>
          </a:xfrm>
          <a:prstGeom prst="ellipse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9194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80160" y="4754880"/>
            <a:ext cx="10424160" cy="621792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63040" y="48097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Calibri"/>
              </a:defRPr>
            </a:pPr>
            <a:r>
              <a:t>Engine — per-person scoring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5056632"/>
            <a:ext cx="10058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E293B"/>
                </a:solidFill>
                <a:latin typeface="Consolas"/>
              </a:defRPr>
            </a:pPr>
            <a:r>
              <a:t>Compute 5 health scores for each of 47 employees</a:t>
            </a:r>
          </a:p>
        </p:txBody>
      </p:sp>
      <p:sp>
        <p:nvSpPr>
          <p:cNvPr id="35" name="Oval 34"/>
          <p:cNvSpPr/>
          <p:nvPr/>
        </p:nvSpPr>
        <p:spPr>
          <a:xfrm>
            <a:off x="457200" y="5431536"/>
            <a:ext cx="640080" cy="621792"/>
          </a:xfrm>
          <a:prstGeom prst="ellipse">
            <a:avLst/>
          </a:prstGeom>
          <a:solidFill>
            <a:srgbClr val="CA8A04"/>
          </a:solidFill>
          <a:ln w="1587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59612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80160" y="5431536"/>
            <a:ext cx="10424160" cy="621792"/>
          </a:xfrm>
          <a:prstGeom prst="roundRect">
            <a:avLst/>
          </a:prstGeom>
          <a:solidFill>
            <a:srgbClr val="FEF9C3"/>
          </a:solidFill>
          <a:ln w="15875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63040" y="5486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Calibri"/>
              </a:defRPr>
            </a:pPr>
            <a:r>
              <a:t>Engine — 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5733288"/>
            <a:ext cx="10058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E293B"/>
                </a:solidFill>
                <a:latin typeface="Consolas"/>
              </a:defRPr>
            </a:pPr>
            <a:r>
              <a:t>Team aggregate + individual drill-down → 3 promotable, 5 low performers</a:t>
            </a:r>
          </a:p>
        </p:txBody>
      </p:sp>
      <p:sp>
        <p:nvSpPr>
          <p:cNvPr id="40" name="Oval 39"/>
          <p:cNvSpPr/>
          <p:nvPr/>
        </p:nvSpPr>
        <p:spPr>
          <a:xfrm>
            <a:off x="457200" y="6108192"/>
            <a:ext cx="640080" cy="621792"/>
          </a:xfrm>
          <a:prstGeom prst="ellipse">
            <a:avLst/>
          </a:prstGeom>
          <a:solidFill>
            <a:srgbClr val="059669"/>
          </a:solidFill>
          <a:ln w="158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27278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0160" y="6108192"/>
            <a:ext cx="10424160" cy="621792"/>
          </a:xfrm>
          <a:prstGeom prst="roundRect">
            <a:avLst/>
          </a:prstGeom>
          <a:solidFill>
            <a:srgbClr val="D1FAE5"/>
          </a:solidFill>
          <a:ln w="158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63040" y="616305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Calibri"/>
              </a:defRPr>
            </a:pPr>
            <a:r>
              <a:t>Engine returns JSON; conversation layer narrates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3040" y="6409944"/>
            <a:ext cx="10058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1E293B"/>
                </a:solidFill>
                <a:latin typeface="Consolas"/>
              </a:defRPr>
            </a:pPr>
            <a:r>
              <a:t>{"individual_drill_down":{...}} → "3 of your principals are promotable; 5 fall below 0.50."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Calibri"/>
              </a:defRPr>
            </a:pPr>
            <a:r>
              <a:t>Out of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Two explicit descopes: per-cell competency analysis and action triage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486400" cy="484632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2626"/>
                </a:solidFill>
                <a:latin typeface="Calibri"/>
              </a:defRPr>
            </a:pPr>
            <a:r>
              <a:t>PER-CELL COMPETENCY — DROPPED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Engine does NOT consume these TPCP fields: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b1..b25, b110 (Base cells)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k1..k15, k135 (Key cells)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p1..p10, p150 (Pacing cells)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e1..e10, e160 (Emerging cells)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Dropped outputs: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gap_matrix (cells / repeat_gaps)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critical_gap_score per employee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weakest_cells per employee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structural / mixed / people labels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Surviving TPCP signal: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base_pct, key_pct, pacing_pct,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 emerging_pct, cti_met_pct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team_aggregate.weakest_dimension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484632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2626"/>
                </a:solidFill>
                <a:latin typeface="Calibri"/>
              </a:defRPr>
            </a:pPr>
            <a:r>
              <a:t>ACTION RECOMMENDATIONS — DEFERRED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Engine does NOT emit: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actions field in Engine_Response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training / exposure / hiring objects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priority or horizon_months fields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senior-coverage hiring signal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Questions deferred to a future layer: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What actions to close these gaps?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Training, exposure, or hiring?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Which intervention gives highest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  impact?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  • What's realistic in 6–12 months?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Downstream triage can still read the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diagnostic JSON (team_aggregate +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individual_drill_down) and apply its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t>own rules.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Calibri"/>
              </a:defRPr>
            </a:pPr>
            <a:r>
              <a:t>Summary — Architecture &amp; Scoring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" cy="457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5-layer architecture: Presentation → Conversation → API → Engine → Data</a:t>
            </a:r>
          </a:p>
          <a:p>
            <a:pPr>
              <a:spcAft>
                <a:spcPts val="4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Engine consumes 2 files (HRIS + TPCP), full-outer-joined on dummy_id</a:t>
            </a:r>
          </a:p>
          <a:p>
            <a:pPr>
              <a:spcAft>
                <a:spcPts val="4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4-stage engine pipeline: load+join → scope filter → per-person scoring → analysis</a:t>
            </a:r>
          </a:p>
          <a:p>
            <a:pPr>
              <a:spcAft>
                <a:spcPts val="4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5 health scores per employee — all deterministic, all in 0–1 range</a:t>
            </a:r>
          </a:p>
          <a:p>
            <a:pPr>
              <a:spcAft>
                <a:spcPts val="4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2 parallel analyses: team aggregate + individual drill-down</a:t>
            </a:r>
          </a:p>
          <a:p>
            <a:pPr>
              <a:spcAft>
                <a:spcPts val="4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TPCP input restricted to block-level rollups (base/key/pacing/emerging %, cti_met %)</a:t>
            </a:r>
          </a:p>
          <a:p>
            <a:pPr>
              <a:spcAft>
                <a:spcPts val="4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Engine stops at diagnosis — action triage is explicitly out of scope</a:t>
            </a:r>
          </a:p>
          <a:p>
            <a:pPr>
              <a:spcAft>
                <a:spcPts val="4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Engine emits PURE JSON; conversation layer handles narrative framing</a:t>
            </a:r>
          </a:p>
          <a:p>
            <a:pPr>
              <a:spcAft>
                <a:spcPts val="4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Every output is traceable back to raw HRIS and TPCP rollup fields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43600"/>
            <a:ext cx="11155680" cy="640080"/>
          </a:xfrm>
          <a:prstGeom prst="roundRect">
            <a:avLst/>
          </a:prstGeom>
          <a:solidFill>
            <a:srgbClr val="F0F7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Calibri"/>
              </a:defRPr>
            </a:pPr>
            <a:r>
              <a:t>Rule-based · Deterministic · Explainable · No labeled data needed · Conversation-ready diagnostic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