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CDWC Talent Diagnostic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3C5FD"/>
                </a:solidFill>
                <a:latin typeface="Calibri"/>
              </a:defRPr>
            </a:pPr>
            <a:r>
              <a:t>High-Level Architecture &amp; Scoring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Calibri"/>
              </a:defRPr>
            </a:pPr>
            <a:r>
              <a:t>How the Engine Computes Scores to Answer HOD/GM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From HOD/GM question → to data sources → to scoring → to JSON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822960"/>
          </a:xfrm>
          <a:prstGeom prst="roundRect">
            <a:avLst/>
          </a:prstGeom>
          <a:solidFill>
            <a:srgbClr val="F3E8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① PRESENTATION LAYER   ·   HOD/GM asks 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11247120" cy="822960"/>
          </a:xfrm>
          <a:prstGeom prst="roundRect">
            <a:avLst/>
          </a:prstGeom>
          <a:solidFill>
            <a:srgbClr val="F0F7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② CONVERSATION LAYER   ·   NL parser + narrative formatter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11247120" cy="8229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③ API LAYER   ·   FastAPI endpoints route the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43400"/>
            <a:ext cx="11247120" cy="82296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④ ENGINE LAYER   ·   join → scope → score → analyze → insight  (PURE JSON OUT)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03520"/>
            <a:ext cx="11247120" cy="8229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⑤ DATA LAYER   ·   DUMMY_SMA_HRIS_sample.json  +  DUMMY_TPCP_Assessment_sample.json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2951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552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2153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175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Calibri"/>
              </a:defRPr>
            </a:pPr>
            <a:r>
              <a:t>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Engine layer never formats prose. It always emits structured JSON which the conversation layer converts into narrative.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Two source files, left-join on dummy_id → unified employee record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4754880" cy="29260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DUMMY_SMA_HRIS_sample.json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9,455 employees  (1 row per person)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dummy_id, employee_name, superior_name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skill_group, job_grade, salary_grade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year_in_sg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sma_completion_status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overall_cbs_pct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technical_cbs_pct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leadership_cbs_pct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00200"/>
            <a:ext cx="4754880" cy="2926080"/>
          </a:xfrm>
          <a:prstGeom prst="roundRect">
            <a:avLst/>
          </a:prstGeom>
          <a:solidFill>
            <a:srgbClr val="F3E8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737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DUMMY_TPCP_Assessment_sample.json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48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1,018 assessments  (1 row per person)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dummy_id, employee_name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business, opu, division, skill_group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discipline, sub_discipline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assessment_level, qualified_level, passed_tpcp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base_pct, key_pct, pacing_pct, emerging_pct, cti_met_pct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110+ competency cells  (b1..b25, k1..k15, p1..p10, e1..e10)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12080" y="3017520"/>
            <a:ext cx="640080" cy="0"/>
          </a:xfrm>
          <a:prstGeom prst="line">
            <a:avLst/>
          </a:prstGeom>
          <a:ln w="31750">
            <a:solidFill>
              <a:srgbClr val="2563E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309360" y="3017520"/>
            <a:ext cx="640080" cy="0"/>
          </a:xfrm>
          <a:prstGeom prst="line">
            <a:avLst/>
          </a:prstGeom>
          <a:ln w="31750">
            <a:solidFill>
              <a:srgbClr val="7C3AE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80" y="2651760"/>
            <a:ext cx="1737360" cy="731520"/>
          </a:xfrm>
          <a:prstGeom prst="roundRect">
            <a:avLst/>
          </a:prstGeom>
          <a:solidFill>
            <a:srgbClr val="FEF9C3"/>
          </a:solidFill>
          <a:ln w="1587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A8A04"/>
                </a:solidFill>
                <a:latin typeface="Calibri"/>
              </a:defRPr>
            </a:pPr>
            <a:r>
              <a:t>LEFT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on dummy_id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846320"/>
            <a:ext cx="9418320" cy="155448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Unified Employee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492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977 employees with BOTH files (full signal)  ·  8,477 HRIS-only (scored on CBS, zero on TPCP)  ·  41 TPCP-only (edge case)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Each record carries identity + org hierarchy + CBS block + TPCP block + competency cells ready for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Engine Pipeline — 4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Every query flows through these stages; outputs are pure 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292608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Scope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Apply mandatory org filter:</a:t>
            </a:r>
            <a:br/>
            <a:r>
              <a:t>business · opu · division.</a:t>
            </a:r>
            <a:br/>
            <a:r>
              <a:t>Resulting team = candidate pool.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834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651760" cy="29260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1737360"/>
            <a:ext cx="457200" cy="45720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810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8105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Per-Person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688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Compute 6 health scores for</a:t>
            </a:r>
            <a:br/>
            <a:r>
              <a:t>every employee in pool.</a:t>
            </a:r>
            <a:br/>
            <a:r>
              <a:t>All scores are 0–1.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834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2651760" cy="2926080"/>
          </a:xfrm>
          <a:prstGeom prst="roundRect">
            <a:avLst/>
          </a:prstGeom>
          <a:solidFill>
            <a:srgbClr val="FEF9C3"/>
          </a:solidFill>
          <a:ln w="1587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CA8A04"/>
          </a:solidFill>
          <a:ln w="1587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10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8105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Analysis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Run 3 parallel analyses:</a:t>
            </a:r>
            <a:br/>
            <a:r>
              <a:t>• Team aggregate rollup</a:t>
            </a:r>
            <a:br/>
            <a:r>
              <a:t>• Competency gap matrix</a:t>
            </a:r>
            <a:br/>
            <a:r>
              <a:t>• Individual drill-down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834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554480"/>
            <a:ext cx="2651760" cy="292608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81160" y="1737360"/>
            <a:ext cx="457200" cy="457200"/>
          </a:xfrm>
          <a:prstGeom prst="ellipse">
            <a:avLst/>
          </a:prstGeom>
          <a:solidFill>
            <a:srgbClr val="059669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810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8105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Insight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468880"/>
            <a:ext cx="2194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Rule-based triage:</a:t>
            </a:r>
            <a:br/>
            <a:r>
              <a:t>training · exposure · hiring.</a:t>
            </a:r>
            <a:br/>
            <a:r>
              <a:t>Emit structured JSON.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F0F7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Which stage answers which question?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03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Stage 2 →  'Who has not completed TPCP?'  'Individual scorecards'  'What is their combined score?'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Stage 3 →  'Team TPCP performance?'  'Which cells are consistently weak?'  'People vs structural?'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Stage 4 →  'What actions?'  'Training, exposure, hiring?'  'What to close in 6–12 months?'  'Who is promotable?'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Per-Person Scoring — Inputs to 6 Health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Each employee becomes a 6-dimensional health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926080" cy="4846320"/>
          </a:xfrm>
          <a:prstGeom prst="roundRect">
            <a:avLst/>
          </a:prstGeom>
          <a:solidFill>
            <a:srgbClr val="F0F7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INPUT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560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FROM HRIS: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overall_cbs_pct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technical_cbs_pct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leadership_cbs_pct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job_grade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year_in_sg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FROM TPCP: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cti_met_pct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base_pct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key_pct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pacing_pct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emerging_pct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passed_tpcp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assessment_level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b1..b25, k1..k15,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 p1..p10, e1..e10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743200" cy="14630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1. TPCP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574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cti_met_pct, base, key,</a:t>
            </a:r>
            <a:br/>
            <a:r>
              <a:t>pacing, emerging,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2743200" cy="1463040"/>
          </a:xfrm>
          <a:prstGeom prst="roundRect">
            <a:avLst/>
          </a:prstGeom>
          <a:solidFill>
            <a:srgbClr val="F3E8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2. CBS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0574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technical_cbs +</a:t>
            </a:r>
            <a:br/>
            <a:r>
              <a:t>overall_cbs +</a:t>
            </a:r>
            <a:br/>
            <a:r>
              <a:t>leadership_cbs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154680"/>
            <a:ext cx="2743200" cy="146304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3. Combined Competency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657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0.55 × TPCP</a:t>
            </a:r>
            <a:br/>
            <a:r>
              <a:t>+ 0.45 × CBS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154680"/>
            <a:ext cx="2743200" cy="1463040"/>
          </a:xfrm>
          <a:prstGeom prst="roundRect">
            <a:avLst/>
          </a:prstGeom>
          <a:solidFill>
            <a:srgbClr val="FEF9C3"/>
          </a:solidFill>
          <a:ln w="1587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246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4. Grade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57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job_grade ↔</a:t>
            </a:r>
            <a:br/>
            <a:r>
              <a:t>assessment_level</a:t>
            </a:r>
            <a:br/>
            <a:r>
              <a:t>alignment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754880"/>
            <a:ext cx="2743200" cy="146304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4846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5. Tenure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5257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year_in_sg /</a:t>
            </a:r>
            <a:br/>
            <a:r>
              <a:t>grade_threshold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754880"/>
            <a:ext cx="2743200" cy="146304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846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6. Critical Gap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2578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1 - (cells ≤ 1 /</a:t>
            </a:r>
            <a:br/>
            <a:r>
              <a:t>total cells)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1554480"/>
            <a:ext cx="2377440" cy="4846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10312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"employee_id": 23267,</a:t>
            </a:r>
            <a:br/>
            <a:r>
              <a:t>  "tpcp_health": 0.78,</a:t>
            </a:r>
            <a:br/>
            <a:r>
              <a:t>  "cbs_health": 0.64,</a:t>
            </a:r>
            <a:br/>
            <a:r>
              <a:t>  "combined": 0.72,</a:t>
            </a:r>
            <a:br/>
            <a:r>
              <a:t>  "grade_fit": 1.0,</a:t>
            </a:r>
            <a:br/>
            <a:r>
              <a:t>  "tenure_ready": 0.85,</a:t>
            </a:r>
            <a:br/>
            <a:r>
              <a:t>  "gap_score": 0.88,</a:t>
            </a:r>
            <a:br/>
            <a:r>
              <a:t>  "gap_cells": [</a:t>
            </a:r>
            <a:br/>
            <a:r>
              <a:t>    "k3","p2","e1"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How Each Score Is Computed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Every formula is deterministic, traceable, and tunable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749039" cy="23774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1. TPCP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onsolas"/>
              </a:defRPr>
            </a:pPr>
            <a:r>
              <a:t>tpcp_health =</a:t>
            </a:r>
            <a:br/>
            <a:r>
              <a:t>   0.6 × cti_met_pct</a:t>
            </a:r>
            <a:br/>
            <a:r>
              <a:t> + 0.4 × avg(base_pct, key_pct,</a:t>
            </a:r>
            <a:br/>
            <a:r>
              <a:t>            pacing_pct, emerging_pct)</a:t>
            </a:r>
            <a:br/>
            <a:r>
              <a:t> + 0.1 if passed_tpcp = 'Y'</a:t>
            </a:r>
            <a:br/>
            <a:r>
              <a:t> (capped at 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alibri"/>
              </a:defRPr>
            </a:pPr>
            <a:r>
              <a:t>→ 0 if no TPCP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39" y="1463040"/>
            <a:ext cx="3749039" cy="2377440"/>
          </a:xfrm>
          <a:prstGeom prst="roundRect">
            <a:avLst/>
          </a:prstGeom>
          <a:solidFill>
            <a:srgbClr val="F3E8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5544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2. CBS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1965960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onsolas"/>
              </a:defRPr>
            </a:pPr>
            <a:r>
              <a:t>cbs_health =</a:t>
            </a:r>
            <a:br/>
            <a:r>
              <a:t>   0.5 × technical_cbs_pct</a:t>
            </a:r>
            <a:br/>
            <a:r>
              <a:t> + 0.3 × overall_cbs_pct</a:t>
            </a:r>
            <a:br/>
            <a:r>
              <a:t> + 0.2 × leadership_cbs_pct</a:t>
            </a:r>
            <a:br/>
            <a:r>
              <a:t> (weights rebalance if a</a:t>
            </a:r>
            <a:br/>
            <a:r>
              <a:t>  dimension is missing)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342900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Calibri"/>
              </a:defRPr>
            </a:pPr>
            <a:r>
              <a:t>→ available to all HRIS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463040"/>
            <a:ext cx="3749039" cy="237744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8" y="15544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3. Combined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8" y="1965960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onsolas"/>
              </a:defRPr>
            </a:pPr>
            <a:r>
              <a:t>combined =</a:t>
            </a:r>
            <a:br/>
            <a:r>
              <a:t>   0.55 × tpcp_health</a:t>
            </a:r>
            <a:br/>
            <a:r>
              <a:t> + 0.45 × cbs_health</a:t>
            </a:r>
            <a:br/>
            <a:br/>
            <a:r>
              <a:t> (if tpcp_health = 0 →</a:t>
            </a:r>
            <a:br/>
            <a:r>
              <a:t>  combined = cbs_health)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8" y="342900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→ primary ranking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77640"/>
            <a:ext cx="3749039" cy="2377440"/>
          </a:xfrm>
          <a:prstGeom prst="roundRect">
            <a:avLst/>
          </a:prstGeom>
          <a:solidFill>
            <a:srgbClr val="FEF9C3"/>
          </a:solidFill>
          <a:ln w="1587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690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4. Grade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onsolas"/>
              </a:defRPr>
            </a:pPr>
            <a:r>
              <a:t>Expected level by grade:</a:t>
            </a:r>
            <a:br/>
            <a:r>
              <a:t>  P1–P3 → Staff</a:t>
            </a:r>
            <a:br/>
            <a:r>
              <a:t>  P4–P6 → Principal</a:t>
            </a:r>
            <a:br/>
            <a:r>
              <a:t>  P7+   → Custodian</a:t>
            </a:r>
            <a:br/>
            <a:br/>
            <a:r>
              <a:t>Exact=1.0  Over=0.5  Under=0.0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4360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A8A04"/>
                </a:solidFill>
                <a:latin typeface="Calibri"/>
              </a:defRPr>
            </a:pPr>
            <a:r>
              <a:t>→ flags grade/level misalignment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39" y="3977640"/>
            <a:ext cx="3749039" cy="237744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40690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5. Tenure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4480560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onsolas"/>
              </a:defRPr>
            </a:pPr>
            <a:r>
              <a:t>Grade tenure thresholds:</a:t>
            </a:r>
            <a:br/>
            <a:r>
              <a:t>  P1–P3 → 3 yrs</a:t>
            </a:r>
            <a:br/>
            <a:r>
              <a:t>  P4–P6 → 4 yrs</a:t>
            </a:r>
            <a:br/>
            <a:r>
              <a:t>  P7+   → 5 yrs</a:t>
            </a:r>
            <a:br/>
            <a:br/>
            <a:r>
              <a:t>score = min(year_in_sg /</a:t>
            </a:r>
            <a:br/>
            <a:r>
              <a:t>            threshold, 1.0)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594360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Calibri"/>
              </a:defRPr>
            </a:pPr>
            <a:r>
              <a:t>→ gates promotability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8" y="3977640"/>
            <a:ext cx="3749039" cy="237744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8" y="40690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6. Critical Gap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8" y="4480560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onsolas"/>
              </a:defRPr>
            </a:pPr>
            <a:r>
              <a:t>cells = b1..b25, k1..k15,</a:t>
            </a:r>
            <a:br/>
            <a:r>
              <a:t>        p1..p10, e1..e10</a:t>
            </a:r>
            <a:br/>
            <a:br/>
            <a:r>
              <a:t>gap_count = |cells ≤ 1|</a:t>
            </a:r>
            <a:br/>
            <a:br/>
            <a:r>
              <a:t>score = 1 − (gap_count /</a:t>
            </a:r>
            <a:br/>
            <a:r>
              <a:t>             total_cells)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8" y="594360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Calibri"/>
              </a:defRPr>
            </a:pPr>
            <a:r>
              <a:t>→ also feeds gap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Worked Example — Single Employee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Tracing one record through the scoring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08760"/>
            <a:ext cx="3657600" cy="49377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INPUT  (from joined record)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dummy_id            : 23267</a:t>
            </a:r>
            <a:br/>
            <a:r>
              <a:t>job_grade           : P4</a:t>
            </a:r>
            <a:br/>
            <a:r>
              <a:t>year_in_sg          : 4.2</a:t>
            </a:r>
            <a:br/>
            <a:br/>
            <a:r>
              <a:t>From HRIS</a:t>
            </a:r>
            <a:br/>
            <a:r>
              <a:t>  overall_cbs_pct   : 0.65</a:t>
            </a:r>
            <a:br/>
            <a:r>
              <a:t>  technical_cbs_pct : 0.70</a:t>
            </a:r>
            <a:br/>
            <a:r>
              <a:t>  leadership_cbs_pct: 0.55</a:t>
            </a:r>
            <a:br/>
            <a:br/>
            <a:r>
              <a:t>From TPCP</a:t>
            </a:r>
            <a:br/>
            <a:r>
              <a:t>  assessment_level  : Principal</a:t>
            </a:r>
            <a:br/>
            <a:r>
              <a:t>  passed_tpcp       : Y</a:t>
            </a:r>
            <a:br/>
            <a:r>
              <a:t>  cti_met_pct       : 0.83</a:t>
            </a:r>
            <a:br/>
            <a:r>
              <a:t>  base_pct          : 0.75</a:t>
            </a:r>
            <a:br/>
            <a:r>
              <a:t>  key_pct           : 0.70</a:t>
            </a:r>
            <a:br/>
            <a:r>
              <a:t>  pacing_pct        : 0.60</a:t>
            </a:r>
            <a:br/>
            <a:r>
              <a:t>  emerging_pct      : 0.80</a:t>
            </a:r>
            <a:br/>
            <a:r>
              <a:t>  b,k,p,e cells ≤ 1 : 3 of 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4114800" cy="4937760"/>
          </a:xfrm>
          <a:prstGeom prst="roundRect">
            <a:avLst/>
          </a:prstGeom>
          <a:solidFill>
            <a:srgbClr val="F0F7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00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1168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onsolas"/>
              </a:defRPr>
            </a:pPr>
            <a:r>
              <a:t>tpcp_avg = mean(0.75, 0.70,</a:t>
            </a:r>
            <a:br/>
            <a:r>
              <a:t>                0.60, 0.80) = 0.7125</a:t>
            </a:r>
            <a:br/>
            <a:r>
              <a:t>tpcp_health = 0.6 × 0.83</a:t>
            </a:r>
            <a:br/>
            <a:r>
              <a:t>            + 0.4 × 0.7125</a:t>
            </a:r>
            <a:br/>
            <a:r>
              <a:t>            + 0.1 (passed)</a:t>
            </a:r>
            <a:br/>
            <a:r>
              <a:t>            = 0.49 + 0.285 + 0.1</a:t>
            </a:r>
            <a:br/>
            <a:r>
              <a:t>            = 0.87  (capped 1.0)</a:t>
            </a:r>
            <a:br/>
            <a:br/>
            <a:r>
              <a:t>cbs_health = 0.5 × 0.70</a:t>
            </a:r>
            <a:br/>
            <a:r>
              <a:t>           + 0.3 × 0.65</a:t>
            </a:r>
            <a:br/>
            <a:r>
              <a:t>           + 0.2 × 0.55</a:t>
            </a:r>
            <a:br/>
            <a:r>
              <a:t>           = 0.35+0.195+0.11 = 0.65</a:t>
            </a:r>
            <a:br/>
            <a:br/>
            <a:r>
              <a:t>combined = 0.55 × 0.87</a:t>
            </a:r>
            <a:br/>
            <a:r>
              <a:t>         + 0.45 × 0.65</a:t>
            </a:r>
            <a:br/>
            <a:r>
              <a:t>         = 0.48 + 0.29 = 0.77</a:t>
            </a:r>
            <a:br/>
            <a:br/>
            <a:r>
              <a:t>grade_fit  : P4 → Principal ✓  = 1.0</a:t>
            </a:r>
            <a:br/>
            <a:r>
              <a:t>tenure     : 4.2/4.0 capped   = 1.0</a:t>
            </a:r>
            <a:br/>
            <a:r>
              <a:t>gap_score  : 1 − 3/60         = 0.95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508760"/>
            <a:ext cx="2560320" cy="49377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 (JSON)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01168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"tpcp_health": 0.87,</a:t>
            </a:r>
            <a:br/>
            <a:r>
              <a:t>  "cbs_health": 0.65,</a:t>
            </a:r>
            <a:br/>
            <a:r>
              <a:t>  "combined": 0.77,</a:t>
            </a:r>
            <a:br/>
            <a:r>
              <a:t>  "grade_fit": 1.0,</a:t>
            </a:r>
            <a:br/>
            <a:r>
              <a:t>  "tenure_ready": 1.0,</a:t>
            </a:r>
            <a:br/>
            <a:r>
              <a:t>  "gap_score": 0.95,</a:t>
            </a:r>
            <a:br/>
            <a:r>
              <a:t>  "promotable": true,</a:t>
            </a:r>
            <a:br/>
            <a:r>
              <a:t>  "gap_count": 3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From Per-Person Scores to Team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Stage 3 runs 3 analyses in parallel over the scored population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63440" y="1554480"/>
            <a:ext cx="2926080" cy="10058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Scored 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3C5FD"/>
                </a:solidFill>
                <a:latin typeface="Calibri"/>
              </a:defRPr>
            </a:pPr>
            <a:r>
              <a:t>N employees × 6 scores each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103120" y="2560320"/>
            <a:ext cx="4023360" cy="64008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26480" y="2560320"/>
            <a:ext cx="0" cy="64008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26480" y="2560320"/>
            <a:ext cx="4023360" cy="640080"/>
          </a:xfrm>
          <a:prstGeom prst="line">
            <a:avLst/>
          </a:prstGeom>
          <a:ln w="2540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3108960"/>
            <a:ext cx="3520440" cy="3383280"/>
          </a:xfrm>
          <a:prstGeom prst="roundRect">
            <a:avLst/>
          </a:prstGeom>
          <a:solidFill>
            <a:srgbClr val="F3E8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A. Team Rollup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pass rate, level distribution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avg combined / TPCP / CBS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not_assessed count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grade-level headcounts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ANSWERS: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How did my team perform?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Who has not completed TPCP?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Enough Staff/Principal?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Overall SMA strength?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108960"/>
            <a:ext cx="3520440" cy="3383280"/>
          </a:xfrm>
          <a:prstGeom prst="roundRect">
            <a:avLst/>
          </a:prstGeom>
          <a:solidFill>
            <a:srgbClr val="FEF9C3"/>
          </a:solidFill>
          <a:ln w="1587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2461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B. Gap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74904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For each cell (b1..e10):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fail_rate = |score ≤ 1| / 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Classify each cell: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≥ 60%  → STRUCTURAL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20–60% → MIXED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&lt; 20%  → PEOPLE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ANSWERS: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Which cells are weak?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Repeat gaps across people?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People vs structural?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3108960"/>
            <a:ext cx="3520440" cy="33832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2461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C. Individual Drill-Down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74904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flag low combined (&lt; 0.5)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flag promotable (≥ 0.75 +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 tenure + pass + ≤3 gaps)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list gap cells per person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ANSWERS: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Critical gap individuals?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Who is promotable?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Gaps before promotion?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Move to critical role?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Insight Engine — From Scores to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Stage 4 turns numbers into 'what to do' via rule-based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926080" cy="48463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INPUT TO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2743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From Team Rollup: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level distribution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pass rate, avg scores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From Gap Matrix: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per-cell failure rate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structural / mixed / people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From Individual Drill-Down: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flagged low performers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promotable candidates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• personal gap lists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54480"/>
            <a:ext cx="4572000" cy="4846320"/>
          </a:xfrm>
          <a:prstGeom prst="roundRect">
            <a:avLst/>
          </a:prstGeom>
          <a:solidFill>
            <a:srgbClr val="F0F7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DECISION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0312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Consolas"/>
              </a:defRPr>
            </a:pPr>
            <a:r>
              <a:t>IF cell.fail_rate ≥ 60%</a:t>
            </a:r>
            <a:br/>
            <a:r>
              <a:t>   AND cell ∈ (Base, Key)</a:t>
            </a:r>
            <a:br/>
            <a:r>
              <a:t>   → action = TRAINING (priority: high)</a:t>
            </a:r>
            <a:br/>
            <a:br/>
            <a:r>
              <a:t>IF cell.fail_rate 20–60%</a:t>
            </a:r>
            <a:br/>
            <a:r>
              <a:t>   AND cell ∈ (Pacing, Emerging)</a:t>
            </a:r>
            <a:br/>
            <a:r>
              <a:t>   → action = EXPOSURE (targeted)</a:t>
            </a:r>
            <a:br/>
            <a:br/>
            <a:r>
              <a:t>IF level_distribution.principals /</a:t>
            </a:r>
            <a:br/>
            <a:r>
              <a:t>   team_size &lt; benchmark</a:t>
            </a:r>
            <a:br/>
            <a:r>
              <a:t>   AND no internal upgrade path</a:t>
            </a:r>
            <a:br/>
            <a:r>
              <a:t>   → action = HIRING</a:t>
            </a:r>
            <a:br/>
            <a:br/>
            <a:r>
              <a:t>IF individual.combined ≥ 0.75</a:t>
            </a:r>
            <a:br/>
            <a:r>
              <a:t>   AND tenure_ready ≥ 1.0</a:t>
            </a:r>
            <a:br/>
            <a:r>
              <a:t>   AND passed_tpcp = 'Y'</a:t>
            </a:r>
            <a:br/>
            <a:r>
              <a:t>   AND gap_count ≤ 3</a:t>
            </a:r>
            <a:br/>
            <a:r>
              <a:t>   → promotable = true</a:t>
            </a:r>
            <a:br/>
            <a:br/>
            <a:r>
              <a:t>IF individual.combined 0.65–0.74</a:t>
            </a:r>
            <a:br/>
            <a:r>
              <a:t>   → close_in_6m: list gaps at level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554480"/>
            <a:ext cx="3200400" cy="48463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JSON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1031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"actions": [</a:t>
            </a:r>
            <a:br/>
            <a:r>
              <a:t>    {</a:t>
            </a:r>
            <a:br/>
            <a:r>
              <a:t>      "type": "training",</a:t>
            </a:r>
            <a:br/>
            <a:r>
              <a:t>      "priority": "high",</a:t>
            </a:r>
            <a:br/>
            <a:r>
              <a:t>      "cell": "k3",</a:t>
            </a:r>
            <a:br/>
            <a:r>
              <a:t>      "fail_rate": 0.68,</a:t>
            </a:r>
            <a:br/>
            <a:r>
              <a:t>      "horizon_months": 6,</a:t>
            </a:r>
            <a:br/>
            <a:r>
              <a:t>      "affects": 18</a:t>
            </a:r>
            <a:br/>
            <a:r>
              <a:t>    },</a:t>
            </a:r>
            <a:br/>
            <a:r>
              <a:t>    {</a:t>
            </a:r>
            <a:br/>
            <a:r>
              <a:t>      "type": "exposure",</a:t>
            </a:r>
            <a:br/>
            <a:r>
              <a:t>      "priority": "medium",</a:t>
            </a:r>
            <a:br/>
            <a:r>
              <a:t>      "cell": "p2",</a:t>
            </a:r>
            <a:br/>
            <a:r>
              <a:t>      "horizon_months": 9,</a:t>
            </a:r>
            <a:br/>
            <a:r>
              <a:t>      "affects": 4</a:t>
            </a:r>
            <a:br/>
            <a:r>
              <a:t>    }</a:t>
            </a:r>
            <a:br/>
            <a:r>
              <a:t>  ],</a:t>
            </a:r>
            <a:br/>
            <a:r>
              <a:t>  "promotable_count": 3,</a:t>
            </a:r>
            <a:br/>
            <a:r>
              <a:t>  "critical_gap_count": 5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Full Request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One user question walked through every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371600"/>
            <a:ext cx="640080" cy="685800"/>
          </a:xfrm>
          <a:prstGeom prst="ellipse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371600"/>
            <a:ext cx="10424160" cy="685800"/>
          </a:xfrm>
          <a:prstGeom prst="roundRect">
            <a:avLst/>
          </a:prstGeom>
          <a:solidFill>
            <a:srgbClr val="F3E8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444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HOD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"Which of my principals in PCSB-DR Drilling</a:t>
            </a:r>
            <a:br/>
            <a:r>
              <a:t>still have critical gaps?"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30552"/>
            <a:ext cx="640080" cy="68580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130552"/>
            <a:ext cx="10424160" cy="685800"/>
          </a:xfrm>
          <a:prstGeom prst="roundRect">
            <a:avLst/>
          </a:prstGeom>
          <a:solidFill>
            <a:srgbClr val="F0F7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2037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Chat parser extracts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780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business=Upstream, opu=PCSB-DR, division=Drilling,</a:t>
            </a:r>
            <a:br/>
            <a:r>
              <a:t>question_type=critical_gaps, filter=assessment_level:Principal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889504"/>
            <a:ext cx="640080" cy="68580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7238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2889504"/>
            <a:ext cx="1042416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962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API 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23697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POST /team/analyze  →  RecommendationEngine.run()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648456"/>
            <a:ext cx="640080" cy="685800"/>
          </a:xfrm>
          <a:prstGeom prst="ellipse">
            <a:avLst/>
          </a:prstGeom>
          <a:solidFill>
            <a:srgbClr val="DC2626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3133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3648456"/>
            <a:ext cx="10424160" cy="68580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3721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Engine — scope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95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HRIS⋈TPCP left-join; keep rows where business/opu/division match</a:t>
            </a:r>
            <a:br/>
            <a:r>
              <a:t>→ 47 candidates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407408"/>
            <a:ext cx="640080" cy="68580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9028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4407408"/>
            <a:ext cx="1042416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Engine — per-person 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7548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Compute 6 health scores for each of 47 employees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5166360"/>
            <a:ext cx="640080" cy="685800"/>
          </a:xfrm>
          <a:prstGeom prst="ellipse">
            <a:avLst/>
          </a:prstGeom>
          <a:solidFill>
            <a:srgbClr val="CA8A04"/>
          </a:solidFill>
          <a:ln w="1587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349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" y="5166360"/>
            <a:ext cx="10424160" cy="685800"/>
          </a:xfrm>
          <a:prstGeom prst="roundRect">
            <a:avLst/>
          </a:prstGeom>
          <a:solidFill>
            <a:srgbClr val="FEF9C3"/>
          </a:solidFill>
          <a:ln w="1587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5239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Engine —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138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Filter: assessment_level=Principal AND combined &lt; 0.6</a:t>
            </a:r>
            <a:br/>
            <a:r>
              <a:t>→ 5 flagged individuals with gap lists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5925312"/>
            <a:ext cx="640080" cy="685800"/>
          </a:xfrm>
          <a:prstGeom prst="ellipse">
            <a:avLst/>
          </a:prstGeom>
          <a:solidFill>
            <a:srgbClr val="059669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1081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0160" y="5925312"/>
            <a:ext cx="10424160" cy="68580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998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Engine returns JSON; conversation layer narrates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62727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{"flagged":[...]} → "5 of your 12 principals fall below 0.6. Top gaps: k3, p2, e1."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Calibri"/>
              </a:defRPr>
            </a:pPr>
            <a:r>
              <a:t>Summary — Architecture &amp; Scoring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" cy="45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5-layer architecture: Presentation → Conversation → API → Engine → Data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Engine consumes 2 files (HRIS + TPCP), left-joined on dummy_id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Engine pipeline: scope filter → per-person scoring → analysis → insight triage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6 health scores per employee — all deterministic, all in 0–1 range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3 parallel analyses answer different question types (team / gaps / individuals)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Insight engine applies explicit rules to emit structured actions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Engine emits PURE JSON; conversation layer handles the narrative framing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Every output is traceable back to raw HRIS and TPCP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943600"/>
            <a:ext cx="11155680" cy="640080"/>
          </a:xfrm>
          <a:prstGeom prst="roundRect">
            <a:avLst/>
          </a:prstGeom>
          <a:solidFill>
            <a:srgbClr val="F0F7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Rule-based · Deterministic · Explainable · No labeled data needed · Conversation-ready 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