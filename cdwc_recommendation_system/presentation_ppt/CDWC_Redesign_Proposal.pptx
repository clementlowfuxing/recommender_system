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90" d="100"/>
          <a:sy n="90" d="100"/>
        </p:scale>
        <p:origin x="370" y="67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5/7/2026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5/7/2026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5/7/2026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5/7/2026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293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914400" y="1463040"/>
            <a:ext cx="10058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200" b="1">
                <a:solidFill>
                  <a:srgbClr val="FFFFFF"/>
                </a:solidFill>
                <a:latin typeface="Calibri"/>
              </a:defRPr>
            </a:pPr>
            <a:r>
              <a:t>CDWC Talent Diagnostic Engine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65176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600" b="0">
                <a:solidFill>
                  <a:srgbClr val="93C5FD"/>
                </a:solidFill>
                <a:latin typeface="Calibri"/>
              </a:defRPr>
            </a:pPr>
            <a:r>
              <a:t>Redesign Proposal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84048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64748B"/>
                </a:solidFill>
                <a:latin typeface="Calibri"/>
              </a:defRPr>
            </a:pPr>
            <a:r>
              <a:t>From Project-Matching to Team Diagnostics, Gap Analysis &amp; Action Insights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475488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93C5FD"/>
                </a:solidFill>
                <a:latin typeface="Calibri"/>
              </a:defRPr>
            </a:pPr>
            <a:r>
              <a:t>Data-Driven Redesign Based on TPCP + SMA HRIS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2004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1E293B"/>
                </a:solidFill>
                <a:latin typeface="Calibri"/>
              </a:defRPr>
            </a:pPr>
            <a:r>
              <a:t>Agenda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48640" y="1234440"/>
            <a:ext cx="640080" cy="45720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097280" y="1645920"/>
            <a:ext cx="100584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700">
                <a:solidFill>
                  <a:srgbClr val="1E293B"/>
                </a:solidFill>
                <a:latin typeface="Calibri"/>
              </a:defRPr>
            </a:pPr>
            <a:r>
              <a:t>1.  The Shift — From Matching to Diagnosing</a:t>
            </a:r>
          </a:p>
          <a:p>
            <a:pPr>
              <a:spcAft>
                <a:spcPts val="600"/>
              </a:spcAft>
              <a:defRPr sz="1700">
                <a:solidFill>
                  <a:srgbClr val="1E293B"/>
                </a:solidFill>
                <a:latin typeface="Calibri"/>
              </a:defRPr>
            </a:pPr>
            <a:r>
              <a:t>2.  What Users Actually Ask (16 HOD/GM Questions)</a:t>
            </a:r>
          </a:p>
          <a:p>
            <a:pPr>
              <a:spcAft>
                <a:spcPts val="600"/>
              </a:spcAft>
              <a:defRPr sz="1700">
                <a:solidFill>
                  <a:srgbClr val="1E293B"/>
                </a:solidFill>
                <a:latin typeface="Calibri"/>
              </a:defRPr>
            </a:pPr>
            <a:r>
              <a:t>3.  What the Data Gives Us (TPCP + SMA HRIS)</a:t>
            </a:r>
          </a:p>
          <a:p>
            <a:pPr>
              <a:spcAft>
                <a:spcPts val="600"/>
              </a:spcAft>
              <a:defRPr sz="1700">
                <a:solidFill>
                  <a:srgbClr val="1E293B"/>
                </a:solidFill>
                <a:latin typeface="Calibri"/>
              </a:defRPr>
            </a:pPr>
            <a:r>
              <a:t>4.  Why the Current Scoring Functions No Longer Fit</a:t>
            </a:r>
          </a:p>
          <a:p>
            <a:pPr>
              <a:spcAft>
                <a:spcPts val="600"/>
              </a:spcAft>
              <a:defRPr sz="1700">
                <a:solidFill>
                  <a:srgbClr val="1E293B"/>
                </a:solidFill>
                <a:latin typeface="Calibri"/>
              </a:defRPr>
            </a:pPr>
            <a:r>
              <a:t>5.  New Core Primitives — 6 Health Scores</a:t>
            </a:r>
          </a:p>
          <a:p>
            <a:pPr>
              <a:spcAft>
                <a:spcPts val="600"/>
              </a:spcAft>
              <a:defRPr sz="1700">
                <a:solidFill>
                  <a:srgbClr val="1E293B"/>
                </a:solidFill>
                <a:latin typeface="Calibri"/>
              </a:defRPr>
            </a:pPr>
            <a:r>
              <a:t>6.  Hard Filters &amp; Org Scope</a:t>
            </a:r>
          </a:p>
          <a:p>
            <a:pPr>
              <a:spcAft>
                <a:spcPts val="600"/>
              </a:spcAft>
              <a:defRPr sz="1700">
                <a:solidFill>
                  <a:srgbClr val="1E293B"/>
                </a:solidFill>
                <a:latin typeface="Calibri"/>
              </a:defRPr>
            </a:pPr>
            <a:r>
              <a:t>7.  New Pipeline Architecture</a:t>
            </a:r>
          </a:p>
          <a:p>
            <a:pPr>
              <a:spcAft>
                <a:spcPts val="600"/>
              </a:spcAft>
              <a:defRPr sz="1700">
                <a:solidFill>
                  <a:srgbClr val="1E293B"/>
                </a:solidFill>
                <a:latin typeface="Calibri"/>
              </a:defRPr>
            </a:pPr>
            <a:r>
              <a:t>8.  Output for Each Question Type</a:t>
            </a:r>
          </a:p>
          <a:p>
            <a:pPr>
              <a:spcAft>
                <a:spcPts val="600"/>
              </a:spcAft>
              <a:defRPr sz="1700">
                <a:solidFill>
                  <a:srgbClr val="1E293B"/>
                </a:solidFill>
                <a:latin typeface="Calibri"/>
              </a:defRPr>
            </a:pPr>
            <a:r>
              <a:t>9.  Gap Analysis — People vs Structural</a:t>
            </a:r>
          </a:p>
          <a:p>
            <a:pPr>
              <a:spcAft>
                <a:spcPts val="600"/>
              </a:spcAft>
              <a:defRPr sz="1700">
                <a:solidFill>
                  <a:srgbClr val="1E293B"/>
                </a:solidFill>
                <a:latin typeface="Calibri"/>
              </a:defRPr>
            </a:pPr>
            <a:r>
              <a:t>10. Action Recommendation Logic</a:t>
            </a:r>
          </a:p>
          <a:p>
            <a:pPr>
              <a:spcAft>
                <a:spcPts val="600"/>
              </a:spcAft>
              <a:defRPr sz="1700">
                <a:solidFill>
                  <a:srgbClr val="1E293B"/>
                </a:solidFill>
                <a:latin typeface="Calibri"/>
              </a:defRPr>
            </a:pPr>
            <a:r>
              <a:t>11. New API Surface</a:t>
            </a:r>
          </a:p>
          <a:p>
            <a:pPr>
              <a:spcAft>
                <a:spcPts val="600"/>
              </a:spcAft>
              <a:defRPr sz="1700">
                <a:solidFill>
                  <a:srgbClr val="1E293B"/>
                </a:solidFill>
                <a:latin typeface="Calibri"/>
              </a:defRPr>
            </a:pPr>
            <a:r>
              <a:t>12. Module Structure &amp; Implementation Order</a:t>
            </a:r>
          </a:p>
          <a:p>
            <a:pPr>
              <a:spcAft>
                <a:spcPts val="600"/>
              </a:spcAft>
              <a:defRPr sz="1700">
                <a:solidFill>
                  <a:srgbClr val="1E293B"/>
                </a:solidFill>
                <a:latin typeface="Calibri"/>
              </a:defRPr>
            </a:pPr>
            <a:r>
              <a:t>13. Migration Impact</a:t>
            </a:r>
          </a:p>
          <a:p>
            <a:pPr>
              <a:spcAft>
                <a:spcPts val="600"/>
              </a:spcAft>
              <a:defRPr sz="1700">
                <a:solidFill>
                  <a:srgbClr val="1E293B"/>
                </a:solidFill>
                <a:latin typeface="Calibri"/>
              </a:defRPr>
            </a:pPr>
            <a:r>
              <a:t>14. Summary &amp; Next Steps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2004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1E293B"/>
                </a:solidFill>
                <a:latin typeface="Calibri"/>
              </a:defRPr>
            </a:pPr>
            <a:r>
              <a:t>The Shift — From Matching to Diagnosing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48640" y="1234440"/>
            <a:ext cx="640080" cy="45720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548640" y="1554480"/>
            <a:ext cx="5486400" cy="4572000"/>
          </a:xfrm>
          <a:prstGeom prst="roundRect">
            <a:avLst/>
          </a:prstGeom>
          <a:solidFill>
            <a:srgbClr val="FEE2E2"/>
          </a:solidFill>
          <a:ln w="12700">
            <a:solidFill>
              <a:srgbClr val="DC26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822960" y="1691640"/>
            <a:ext cx="4937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DC2626"/>
                </a:solidFill>
                <a:latin typeface="Calibri"/>
              </a:defRPr>
            </a:pPr>
            <a:r>
              <a:t>OLD: Project Matching Engine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2194560"/>
            <a:ext cx="493776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>
                <a:solidFill>
                  <a:srgbClr val="1E293B"/>
                </a:solidFill>
                <a:latin typeface="Calibri"/>
              </a:defRPr>
            </a:pPr>
            <a:r>
              <a:t>• Input: project requirements</a:t>
            </a:r>
          </a:p>
          <a:p>
            <a:pPr>
              <a:spcAft>
                <a:spcPts val="600"/>
              </a:spcAft>
              <a:defRPr sz="1400">
                <a:solidFill>
                  <a:srgbClr val="1E293B"/>
                </a:solidFill>
                <a:latin typeface="Calibri"/>
              </a:defRPr>
            </a:pPr>
            <a:r>
              <a:t>• Output: ranked candidates</a:t>
            </a:r>
          </a:p>
          <a:p>
            <a:pPr>
              <a:spcAft>
                <a:spcPts val="600"/>
              </a:spcAft>
              <a:defRPr sz="1400">
                <a:solidFill>
                  <a:srgbClr val="1E293B"/>
                </a:solidFill>
                <a:latin typeface="Calibri"/>
              </a:defRPr>
            </a:pPr>
            <a:r>
              <a:t>• Core question:</a:t>
            </a:r>
          </a:p>
          <a:p>
            <a:pPr>
              <a:spcAft>
                <a:spcPts val="600"/>
              </a:spcAft>
              <a:defRPr sz="1400">
                <a:solidFill>
                  <a:srgbClr val="1E293B"/>
                </a:solidFill>
                <a:latin typeface="Calibri"/>
              </a:defRPr>
            </a:pPr>
            <a:r>
              <a:t>   'Who best fits this project?'</a:t>
            </a:r>
          </a:p>
          <a:p>
            <a:pPr>
              <a:spcAft>
                <a:spcPts val="600"/>
              </a:spcAft>
              <a:defRPr sz="1400">
                <a:solidFill>
                  <a:srgbClr val="1E293B"/>
                </a:solidFill>
                <a:latin typeface="Calibri"/>
              </a:defRPr>
            </a:pPr>
            <a:endParaRPr/>
          </a:p>
          <a:p>
            <a:pPr>
              <a:spcAft>
                <a:spcPts val="600"/>
              </a:spcAft>
              <a:defRPr sz="1400">
                <a:solidFill>
                  <a:srgbClr val="1E293B"/>
                </a:solidFill>
                <a:latin typeface="Calibri"/>
              </a:defRPr>
            </a:pPr>
            <a:r>
              <a:t>• Depends on: skills list, experience years,</a:t>
            </a:r>
          </a:p>
          <a:p>
            <a:pPr>
              <a:spcAft>
                <a:spcPts val="600"/>
              </a:spcAft>
              <a:defRPr sz="1400">
                <a:solidFill>
                  <a:srgbClr val="1E293B"/>
                </a:solidFill>
                <a:latin typeface="Calibri"/>
              </a:defRPr>
            </a:pPr>
            <a:r>
              <a:t>   role level, availability</a:t>
            </a:r>
          </a:p>
          <a:p>
            <a:pPr>
              <a:spcAft>
                <a:spcPts val="600"/>
              </a:spcAft>
              <a:defRPr sz="1400">
                <a:solidFill>
                  <a:srgbClr val="1E293B"/>
                </a:solidFill>
                <a:latin typeface="Calibri"/>
              </a:defRPr>
            </a:pPr>
            <a:r>
              <a:t>• These fields DO NOT EXIST in the</a:t>
            </a:r>
          </a:p>
          <a:p>
            <a:pPr>
              <a:spcAft>
                <a:spcPts val="600"/>
              </a:spcAft>
              <a:defRPr sz="1400">
                <a:solidFill>
                  <a:srgbClr val="1E293B"/>
                </a:solidFill>
                <a:latin typeface="Calibri"/>
              </a:defRPr>
            </a:pPr>
            <a:r>
              <a:t>   real HRIS / TPCP data</a:t>
            </a:r>
          </a:p>
          <a:p>
            <a:pPr>
              <a:spcAft>
                <a:spcPts val="600"/>
              </a:spcAft>
              <a:defRPr sz="1400">
                <a:solidFill>
                  <a:srgbClr val="1E293B"/>
                </a:solidFill>
                <a:latin typeface="Calibri"/>
              </a:defRPr>
            </a:pPr>
            <a:endParaRPr/>
          </a:p>
          <a:p>
            <a:pPr>
              <a:spcAft>
                <a:spcPts val="600"/>
              </a:spcAft>
              <a:defRPr sz="1400">
                <a:solidFill>
                  <a:srgbClr val="1E293B"/>
                </a:solidFill>
                <a:latin typeface="Calibri"/>
              </a:defRPr>
            </a:pPr>
            <a:r>
              <a:t>• Does not answer any of the actual</a:t>
            </a:r>
          </a:p>
          <a:p>
            <a:pPr>
              <a:spcAft>
                <a:spcPts val="600"/>
              </a:spcAft>
              <a:defRPr sz="1400">
                <a:solidFill>
                  <a:srgbClr val="1E293B"/>
                </a:solidFill>
                <a:latin typeface="Calibri"/>
              </a:defRPr>
            </a:pPr>
            <a:r>
              <a:t>   questions HODs and GMs ask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309360" y="1554480"/>
            <a:ext cx="5486400" cy="4572000"/>
          </a:xfrm>
          <a:prstGeom prst="roundRect">
            <a:avLst/>
          </a:prstGeom>
          <a:solidFill>
            <a:srgbClr val="D1FAE5"/>
          </a:solidFill>
          <a:ln w="12700">
            <a:solidFill>
              <a:srgbClr val="0596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583680" y="1691640"/>
            <a:ext cx="4937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59669"/>
                </a:solidFill>
                <a:latin typeface="Calibri"/>
              </a:defRPr>
            </a:pPr>
            <a:r>
              <a:t>NEW: Talent Diagnostic Engine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0" y="2194560"/>
            <a:ext cx="493776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>
                <a:solidFill>
                  <a:srgbClr val="1E293B"/>
                </a:solidFill>
                <a:latin typeface="Calibri"/>
              </a:defRPr>
            </a:pPr>
            <a:r>
              <a:t>• Input: team scope (business / opu / division)</a:t>
            </a:r>
          </a:p>
          <a:p>
            <a:pPr>
              <a:spcAft>
                <a:spcPts val="600"/>
              </a:spcAft>
              <a:defRPr sz="1400">
                <a:solidFill>
                  <a:srgbClr val="1E293B"/>
                </a:solidFill>
                <a:latin typeface="Calibri"/>
              </a:defRPr>
            </a:pPr>
            <a:r>
              <a:t>• Output: team health + individuals + gaps</a:t>
            </a:r>
          </a:p>
          <a:p>
            <a:pPr>
              <a:spcAft>
                <a:spcPts val="600"/>
              </a:spcAft>
              <a:defRPr sz="1400">
                <a:solidFill>
                  <a:srgbClr val="1E293B"/>
                </a:solidFill>
                <a:latin typeface="Calibri"/>
              </a:defRPr>
            </a:pPr>
            <a:r>
              <a:t>   + action recommendations (as JSON)</a:t>
            </a:r>
          </a:p>
          <a:p>
            <a:pPr>
              <a:spcAft>
                <a:spcPts val="600"/>
              </a:spcAft>
              <a:defRPr sz="1400">
                <a:solidFill>
                  <a:srgbClr val="1E293B"/>
                </a:solidFill>
                <a:latin typeface="Calibri"/>
              </a:defRPr>
            </a:pPr>
            <a:r>
              <a:t>• Core question:</a:t>
            </a:r>
          </a:p>
          <a:p>
            <a:pPr>
              <a:spcAft>
                <a:spcPts val="600"/>
              </a:spcAft>
              <a:defRPr sz="1400">
                <a:solidFill>
                  <a:srgbClr val="1E293B"/>
                </a:solidFill>
                <a:latin typeface="Calibri"/>
              </a:defRPr>
            </a:pPr>
            <a:r>
              <a:t>   'How healthy is my team, where are</a:t>
            </a:r>
          </a:p>
          <a:p>
            <a:pPr>
              <a:spcAft>
                <a:spcPts val="600"/>
              </a:spcAft>
              <a:defRPr sz="1400">
                <a:solidFill>
                  <a:srgbClr val="1E293B"/>
                </a:solidFill>
                <a:latin typeface="Calibri"/>
              </a:defRPr>
            </a:pPr>
            <a:r>
              <a:t>   the gaps, who is ready, what next?'</a:t>
            </a:r>
          </a:p>
          <a:p>
            <a:pPr>
              <a:spcAft>
                <a:spcPts val="600"/>
              </a:spcAft>
              <a:defRPr sz="1400">
                <a:solidFill>
                  <a:srgbClr val="1E293B"/>
                </a:solidFill>
                <a:latin typeface="Calibri"/>
              </a:defRPr>
            </a:pPr>
            <a:endParaRPr/>
          </a:p>
          <a:p>
            <a:pPr>
              <a:spcAft>
                <a:spcPts val="600"/>
              </a:spcAft>
              <a:defRPr sz="1400">
                <a:solidFill>
                  <a:srgbClr val="1E293B"/>
                </a:solidFill>
                <a:latin typeface="Calibri"/>
              </a:defRPr>
            </a:pPr>
            <a:r>
              <a:t>• Uses real HRIS + TPCP fields as-is</a:t>
            </a:r>
          </a:p>
          <a:p>
            <a:pPr>
              <a:spcAft>
                <a:spcPts val="600"/>
              </a:spcAft>
              <a:defRPr sz="1400">
                <a:solidFill>
                  <a:srgbClr val="1E293B"/>
                </a:solidFill>
                <a:latin typeface="Calibri"/>
              </a:defRPr>
            </a:pPr>
            <a:r>
              <a:t>• Answers all 16 HOD/GM questions</a:t>
            </a:r>
          </a:p>
          <a:p>
            <a:pPr>
              <a:spcAft>
                <a:spcPts val="600"/>
              </a:spcAft>
              <a:defRPr sz="1400">
                <a:solidFill>
                  <a:srgbClr val="1E293B"/>
                </a:solidFill>
                <a:latin typeface="Calibri"/>
              </a:defRPr>
            </a:pPr>
            <a:r>
              <a:t>• Conversation layer converts JSON</a:t>
            </a:r>
          </a:p>
          <a:p>
            <a:pPr>
              <a:spcAft>
                <a:spcPts val="600"/>
              </a:spcAft>
              <a:defRPr sz="1400">
                <a:solidFill>
                  <a:srgbClr val="1E293B"/>
                </a:solidFill>
                <a:latin typeface="Calibri"/>
              </a:defRPr>
            </a:pPr>
            <a:r>
              <a:t>   into narrative insights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2004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1E293B"/>
                </a:solidFill>
                <a:latin typeface="Calibri"/>
              </a:defRPr>
            </a:pPr>
            <a:r>
              <a:t>What Users Actually Ask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9144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64748B"/>
                </a:solidFill>
                <a:latin typeface="Calibri"/>
              </a:defRPr>
            </a:pPr>
            <a:r>
              <a:t>16 HOD/GM questions map to 4 analytical workflows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234440"/>
            <a:ext cx="640080" cy="45720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548640" y="1600200"/>
            <a:ext cx="2743200" cy="4937760"/>
          </a:xfrm>
          <a:prstGeom prst="roundRect">
            <a:avLst/>
          </a:prstGeom>
          <a:solidFill>
            <a:srgbClr val="DBEAFE"/>
          </a:solidFill>
          <a:ln w="1270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31520" y="1737360"/>
            <a:ext cx="2377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1E293B"/>
                </a:solidFill>
                <a:latin typeface="Calibri"/>
              </a:defRPr>
            </a:pPr>
            <a:r>
              <a:t>A. Individual Drill-Down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286000"/>
            <a:ext cx="237744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100">
                <a:solidFill>
                  <a:srgbClr val="1E293B"/>
                </a:solidFill>
                <a:latin typeface="Calibri"/>
              </a:defRPr>
            </a:pPr>
            <a:r>
              <a:t>Who is promotable in my division?</a:t>
            </a:r>
          </a:p>
          <a:p>
            <a:pPr>
              <a:spcAft>
                <a:spcPts val="600"/>
              </a:spcAft>
              <a:defRPr sz="1100">
                <a:solidFill>
                  <a:srgbClr val="1E293B"/>
                </a:solidFill>
                <a:latin typeface="Calibri"/>
              </a:defRPr>
            </a:pPr>
            <a:r>
              <a:t>What gaps need to be closed</a:t>
            </a:r>
          </a:p>
          <a:p>
            <a:pPr>
              <a:spcAft>
                <a:spcPts val="600"/>
              </a:spcAft>
              <a:defRPr sz="1100">
                <a:solidFill>
                  <a:srgbClr val="1E293B"/>
                </a:solidFill>
                <a:latin typeface="Calibri"/>
              </a:defRPr>
            </a:pPr>
            <a:r>
              <a:t>   before promotion?</a:t>
            </a:r>
          </a:p>
          <a:p>
            <a:pPr>
              <a:spcAft>
                <a:spcPts val="600"/>
              </a:spcAft>
              <a:defRPr sz="1100">
                <a:solidFill>
                  <a:srgbClr val="1E293B"/>
                </a:solidFill>
                <a:latin typeface="Calibri"/>
              </a:defRPr>
            </a:pPr>
            <a:r>
              <a:t>Can this talent be moved into</a:t>
            </a:r>
          </a:p>
          <a:p>
            <a:pPr>
              <a:spcAft>
                <a:spcPts val="600"/>
              </a:spcAft>
              <a:defRPr sz="1100">
                <a:solidFill>
                  <a:srgbClr val="1E293B"/>
                </a:solidFill>
                <a:latin typeface="Calibri"/>
              </a:defRPr>
            </a:pPr>
            <a:r>
              <a:t>   a critical role?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429000" y="1600200"/>
            <a:ext cx="2743200" cy="4937760"/>
          </a:xfrm>
          <a:prstGeom prst="roundRect">
            <a:avLst/>
          </a:prstGeom>
          <a:solidFill>
            <a:srgbClr val="F3E8FF"/>
          </a:solidFill>
          <a:ln w="1270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3611880" y="1737360"/>
            <a:ext cx="2377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1E293B"/>
                </a:solidFill>
                <a:latin typeface="Calibri"/>
              </a:defRPr>
            </a:pPr>
            <a:r>
              <a:t>B. Team Aggregate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11880" y="2286000"/>
            <a:ext cx="237744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100">
                <a:solidFill>
                  <a:srgbClr val="1E293B"/>
                </a:solidFill>
                <a:latin typeface="Calibri"/>
              </a:defRPr>
            </a:pPr>
            <a:r>
              <a:t>How did my talents perform</a:t>
            </a:r>
          </a:p>
          <a:p>
            <a:pPr>
              <a:spcAft>
                <a:spcPts val="600"/>
              </a:spcAft>
              <a:defRPr sz="1100">
                <a:solidFill>
                  <a:srgbClr val="1E293B"/>
                </a:solidFill>
                <a:latin typeface="Calibri"/>
              </a:defRPr>
            </a:pPr>
            <a:r>
              <a:t>   in the latest TPCP?</a:t>
            </a:r>
          </a:p>
          <a:p>
            <a:pPr>
              <a:spcAft>
                <a:spcPts val="600"/>
              </a:spcAft>
              <a:defRPr sz="1100">
                <a:solidFill>
                  <a:srgbClr val="1E293B"/>
                </a:solidFill>
                <a:latin typeface="Calibri"/>
              </a:defRPr>
            </a:pPr>
            <a:r>
              <a:t>Who has not completed TPCP?</a:t>
            </a:r>
          </a:p>
          <a:p>
            <a:pPr>
              <a:spcAft>
                <a:spcPts val="600"/>
              </a:spcAft>
              <a:defRPr sz="1100">
                <a:solidFill>
                  <a:srgbClr val="1E293B"/>
                </a:solidFill>
                <a:latin typeface="Calibri"/>
              </a:defRPr>
            </a:pPr>
            <a:r>
              <a:t>What is the overall SMA strength</a:t>
            </a:r>
          </a:p>
          <a:p>
            <a:pPr>
              <a:spcAft>
                <a:spcPts val="600"/>
              </a:spcAft>
              <a:defRPr sz="1100">
                <a:solidFill>
                  <a:srgbClr val="1E293B"/>
                </a:solidFill>
                <a:latin typeface="Calibri"/>
              </a:defRPr>
            </a:pPr>
            <a:r>
              <a:t>   for my team?</a:t>
            </a:r>
          </a:p>
          <a:p>
            <a:pPr>
              <a:spcAft>
                <a:spcPts val="600"/>
              </a:spcAft>
              <a:defRPr sz="1100">
                <a:solidFill>
                  <a:srgbClr val="1E293B"/>
                </a:solidFill>
                <a:latin typeface="Calibri"/>
              </a:defRPr>
            </a:pPr>
            <a:r>
              <a:t>Do we have enough people at</a:t>
            </a:r>
          </a:p>
          <a:p>
            <a:pPr>
              <a:spcAft>
                <a:spcPts val="600"/>
              </a:spcAft>
              <a:defRPr sz="1100">
                <a:solidFill>
                  <a:srgbClr val="1E293B"/>
                </a:solidFill>
                <a:latin typeface="Calibri"/>
              </a:defRPr>
            </a:pPr>
            <a:r>
              <a:t>   Staff and Principal level?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309360" y="1600200"/>
            <a:ext cx="2743200" cy="4937760"/>
          </a:xfrm>
          <a:prstGeom prst="roundRect">
            <a:avLst/>
          </a:prstGeom>
          <a:solidFill>
            <a:srgbClr val="FEF9C3"/>
          </a:solidFill>
          <a:ln w="12700">
            <a:solidFill>
              <a:srgbClr val="CA8A0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492240" y="1737360"/>
            <a:ext cx="2377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1E293B"/>
                </a:solidFill>
                <a:latin typeface="Calibri"/>
              </a:defRPr>
            </a:pPr>
            <a:r>
              <a:t>C. Gap Analysis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92240" y="2286000"/>
            <a:ext cx="237744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100">
                <a:solidFill>
                  <a:srgbClr val="1E293B"/>
                </a:solidFill>
                <a:latin typeface="Calibri"/>
              </a:defRPr>
            </a:pPr>
            <a:r>
              <a:t>Which staff / principal still have</a:t>
            </a:r>
          </a:p>
          <a:p>
            <a:pPr>
              <a:spcAft>
                <a:spcPts val="600"/>
              </a:spcAft>
              <a:defRPr sz="1100">
                <a:solidFill>
                  <a:srgbClr val="1E293B"/>
                </a:solidFill>
                <a:latin typeface="Calibri"/>
              </a:defRPr>
            </a:pPr>
            <a:r>
              <a:t>   critical gaps?</a:t>
            </a:r>
          </a:p>
          <a:p>
            <a:pPr>
              <a:spcAft>
                <a:spcPts val="600"/>
              </a:spcAft>
              <a:defRPr sz="1100">
                <a:solidFill>
                  <a:srgbClr val="1E293B"/>
                </a:solidFill>
                <a:latin typeface="Calibri"/>
              </a:defRPr>
            </a:pPr>
            <a:r>
              <a:t>Any high-risk critical roles</a:t>
            </a:r>
          </a:p>
          <a:p>
            <a:pPr>
              <a:spcAft>
                <a:spcPts val="600"/>
              </a:spcAft>
              <a:defRPr sz="1100">
                <a:solidFill>
                  <a:srgbClr val="1E293B"/>
                </a:solidFill>
                <a:latin typeface="Calibri"/>
              </a:defRPr>
            </a:pPr>
            <a:r>
              <a:t>   from TPCP results?</a:t>
            </a:r>
          </a:p>
          <a:p>
            <a:pPr>
              <a:spcAft>
                <a:spcPts val="600"/>
              </a:spcAft>
              <a:defRPr sz="1100">
                <a:solidFill>
                  <a:srgbClr val="1E293B"/>
                </a:solidFill>
                <a:latin typeface="Calibri"/>
              </a:defRPr>
            </a:pPr>
            <a:r>
              <a:t>Which competencies are</a:t>
            </a:r>
          </a:p>
          <a:p>
            <a:pPr>
              <a:spcAft>
                <a:spcPts val="600"/>
              </a:spcAft>
              <a:defRPr sz="1100">
                <a:solidFill>
                  <a:srgbClr val="1E293B"/>
                </a:solidFill>
                <a:latin typeface="Calibri"/>
              </a:defRPr>
            </a:pPr>
            <a:r>
              <a:t>   consistently weak?</a:t>
            </a:r>
          </a:p>
          <a:p>
            <a:pPr>
              <a:spcAft>
                <a:spcPts val="600"/>
              </a:spcAft>
              <a:defRPr sz="1100">
                <a:solidFill>
                  <a:srgbClr val="1E293B"/>
                </a:solidFill>
                <a:latin typeface="Calibri"/>
              </a:defRPr>
            </a:pPr>
            <a:r>
              <a:t>Is this a people issue or a</a:t>
            </a:r>
          </a:p>
          <a:p>
            <a:pPr>
              <a:spcAft>
                <a:spcPts val="600"/>
              </a:spcAft>
              <a:defRPr sz="1100">
                <a:solidFill>
                  <a:srgbClr val="1E293B"/>
                </a:solidFill>
                <a:latin typeface="Calibri"/>
              </a:defRPr>
            </a:pPr>
            <a:r>
              <a:t>   structural competency gap?</a:t>
            </a:r>
          </a:p>
          <a:p>
            <a:pPr>
              <a:spcAft>
                <a:spcPts val="600"/>
              </a:spcAft>
              <a:defRPr sz="1100">
                <a:solidFill>
                  <a:srgbClr val="1E293B"/>
                </a:solidFill>
                <a:latin typeface="Calibri"/>
              </a:defRPr>
            </a:pPr>
            <a:r>
              <a:t>Are there repeat gaps across</a:t>
            </a:r>
          </a:p>
          <a:p>
            <a:pPr>
              <a:spcAft>
                <a:spcPts val="600"/>
              </a:spcAft>
              <a:defRPr sz="1100">
                <a:solidFill>
                  <a:srgbClr val="1E293B"/>
                </a:solidFill>
                <a:latin typeface="Calibri"/>
              </a:defRPr>
            </a:pPr>
            <a:r>
              <a:t>   multiple talents?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189720" y="1600200"/>
            <a:ext cx="2743200" cy="4937760"/>
          </a:xfrm>
          <a:prstGeom prst="roundRect">
            <a:avLst/>
          </a:prstGeom>
          <a:solidFill>
            <a:srgbClr val="D1FAE5"/>
          </a:solidFill>
          <a:ln w="12700">
            <a:solidFill>
              <a:srgbClr val="0596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9372600" y="1737360"/>
            <a:ext cx="2377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1E293B"/>
                </a:solidFill>
                <a:latin typeface="Calibri"/>
              </a:defRPr>
            </a:pPr>
            <a:r>
              <a:t>D. Action Recommendations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372600" y="2286000"/>
            <a:ext cx="237744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100">
                <a:solidFill>
                  <a:srgbClr val="1E293B"/>
                </a:solidFill>
                <a:latin typeface="Calibri"/>
              </a:defRPr>
            </a:pPr>
            <a:r>
              <a:t>What actions to close these gaps?</a:t>
            </a:r>
          </a:p>
          <a:p>
            <a:pPr>
              <a:spcAft>
                <a:spcPts val="600"/>
              </a:spcAft>
              <a:defRPr sz="1100">
                <a:solidFill>
                  <a:srgbClr val="1E293B"/>
                </a:solidFill>
                <a:latin typeface="Calibri"/>
              </a:defRPr>
            </a:pPr>
            <a:r>
              <a:t>Training, exposure, or hiring?</a:t>
            </a:r>
          </a:p>
          <a:p>
            <a:pPr>
              <a:spcAft>
                <a:spcPts val="600"/>
              </a:spcAft>
              <a:defRPr sz="1100">
                <a:solidFill>
                  <a:srgbClr val="1E293B"/>
                </a:solidFill>
                <a:latin typeface="Calibri"/>
              </a:defRPr>
            </a:pPr>
            <a:r>
              <a:t>Which capability intervention</a:t>
            </a:r>
          </a:p>
          <a:p>
            <a:pPr>
              <a:spcAft>
                <a:spcPts val="600"/>
              </a:spcAft>
              <a:defRPr sz="1100">
                <a:solidFill>
                  <a:srgbClr val="1E293B"/>
                </a:solidFill>
                <a:latin typeface="Calibri"/>
              </a:defRPr>
            </a:pPr>
            <a:r>
              <a:t>   gives the highest impact?</a:t>
            </a:r>
          </a:p>
          <a:p>
            <a:pPr>
              <a:spcAft>
                <a:spcPts val="600"/>
              </a:spcAft>
              <a:defRPr sz="1100">
                <a:solidFill>
                  <a:srgbClr val="1E293B"/>
                </a:solidFill>
                <a:latin typeface="Calibri"/>
              </a:defRPr>
            </a:pPr>
            <a:r>
              <a:t>What can be realistically closed</a:t>
            </a:r>
          </a:p>
          <a:p>
            <a:pPr>
              <a:spcAft>
                <a:spcPts val="600"/>
              </a:spcAft>
              <a:defRPr sz="1100">
                <a:solidFill>
                  <a:srgbClr val="1E293B"/>
                </a:solidFill>
                <a:latin typeface="Calibri"/>
              </a:defRPr>
            </a:pPr>
            <a:r>
              <a:t>   in the next 6–12 months?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2004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1E293B"/>
                </a:solidFill>
                <a:latin typeface="Calibri"/>
              </a:defRPr>
            </a:pPr>
            <a:r>
              <a:t>What the Data Gives Us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914400"/>
            <a:ext cx="1097280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64748B"/>
                </a:solidFill>
                <a:latin typeface="Calibri"/>
              </a:defRPr>
            </a:pPr>
            <a:r>
              <a:rPr lang="en-GB" dirty="0"/>
              <a:t>SMA_</a:t>
            </a:r>
            <a:r>
              <a:rPr dirty="0"/>
              <a:t>HRIS and TPCP joined on </a:t>
            </a:r>
            <a:r>
              <a:rPr dirty="0" err="1"/>
              <a:t>dummy_id</a:t>
            </a:r>
            <a:endParaRPr dirty="0"/>
          </a:p>
        </p:txBody>
      </p:sp>
      <p:sp>
        <p:nvSpPr>
          <p:cNvPr id="4" name="Rounded Rectangle 3"/>
          <p:cNvSpPr/>
          <p:nvPr/>
        </p:nvSpPr>
        <p:spPr>
          <a:xfrm>
            <a:off x="548640" y="1234440"/>
            <a:ext cx="640080" cy="45720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548640" y="1554480"/>
            <a:ext cx="5486400" cy="2926080"/>
          </a:xfrm>
          <a:prstGeom prst="roundRect">
            <a:avLst/>
          </a:prstGeom>
          <a:solidFill>
            <a:srgbClr val="DBEAFE"/>
          </a:solidFill>
          <a:ln w="1270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22960" y="1691640"/>
            <a:ext cx="4937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2563EB"/>
                </a:solidFill>
                <a:latin typeface="Calibri"/>
              </a:defRPr>
            </a:pPr>
            <a:r>
              <a:t>SMA HRIS  —  9,455 rows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2148840"/>
            <a:ext cx="493776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200">
                <a:solidFill>
                  <a:srgbClr val="1E293B"/>
                </a:solidFill>
                <a:latin typeface="Calibri"/>
              </a:defRPr>
            </a:pPr>
            <a:r>
              <a:t>Identity: dummy_id, employee_name, superior_name</a:t>
            </a:r>
          </a:p>
          <a:p>
            <a:pPr>
              <a:spcAft>
                <a:spcPts val="600"/>
              </a:spcAft>
              <a:defRPr sz="1200">
                <a:solidFill>
                  <a:srgbClr val="1E293B"/>
                </a:solidFill>
                <a:latin typeface="Calibri"/>
              </a:defRPr>
            </a:pPr>
            <a:r>
              <a:t>Org: skill_group</a:t>
            </a:r>
          </a:p>
          <a:p>
            <a:pPr>
              <a:spcAft>
                <a:spcPts val="600"/>
              </a:spcAft>
              <a:defRPr sz="1200">
                <a:solidFill>
                  <a:srgbClr val="1E293B"/>
                </a:solidFill>
                <a:latin typeface="Calibri"/>
              </a:defRPr>
            </a:pPr>
            <a:r>
              <a:t>Grade: job_grade, salary_grade, year_in_sg</a:t>
            </a:r>
          </a:p>
          <a:p>
            <a:pPr>
              <a:spcAft>
                <a:spcPts val="600"/>
              </a:spcAft>
              <a:defRPr sz="1200">
                <a:solidFill>
                  <a:srgbClr val="1E293B"/>
                </a:solidFill>
                <a:latin typeface="Calibri"/>
              </a:defRPr>
            </a:pPr>
            <a:r>
              <a:t>Completion: sma_completion_status</a:t>
            </a:r>
          </a:p>
          <a:p>
            <a:pPr>
              <a:spcAft>
                <a:spcPts val="600"/>
              </a:spcAft>
              <a:defRPr sz="1200">
                <a:solidFill>
                  <a:srgbClr val="1E293B"/>
                </a:solidFill>
                <a:latin typeface="Calibri"/>
              </a:defRPr>
            </a:pPr>
            <a:r>
              <a:t>CBS Percentages (0–1):</a:t>
            </a:r>
          </a:p>
          <a:p>
            <a:pPr>
              <a:spcAft>
                <a:spcPts val="600"/>
              </a:spcAft>
              <a:defRPr sz="1200">
                <a:solidFill>
                  <a:srgbClr val="1E293B"/>
                </a:solidFill>
                <a:latin typeface="Calibri"/>
              </a:defRPr>
            </a:pPr>
            <a:r>
              <a:t>   • overall_cbs_pct</a:t>
            </a:r>
          </a:p>
          <a:p>
            <a:pPr>
              <a:spcAft>
                <a:spcPts val="600"/>
              </a:spcAft>
              <a:defRPr sz="1200">
                <a:solidFill>
                  <a:srgbClr val="1E293B"/>
                </a:solidFill>
                <a:latin typeface="Calibri"/>
              </a:defRPr>
            </a:pPr>
            <a:r>
              <a:t>   • technical_cbs_pct</a:t>
            </a:r>
          </a:p>
          <a:p>
            <a:pPr>
              <a:spcAft>
                <a:spcPts val="600"/>
              </a:spcAft>
              <a:defRPr sz="1200">
                <a:solidFill>
                  <a:srgbClr val="1E293B"/>
                </a:solidFill>
                <a:latin typeface="Calibri"/>
              </a:defRPr>
            </a:pPr>
            <a:r>
              <a:t>   • leadership_cbs_pct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309360" y="1554480"/>
            <a:ext cx="5486400" cy="2926080"/>
          </a:xfrm>
          <a:prstGeom prst="roundRect">
            <a:avLst/>
          </a:prstGeom>
          <a:solidFill>
            <a:srgbClr val="F3E8FF"/>
          </a:solidFill>
          <a:ln w="1270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583680" y="1691640"/>
            <a:ext cx="4937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7C3AED"/>
                </a:solidFill>
                <a:latin typeface="Calibri"/>
              </a:defRPr>
            </a:pPr>
            <a:r>
              <a:t>TPCP Assessment  —  1,018 rows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0" y="2148840"/>
            <a:ext cx="493776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200">
                <a:solidFill>
                  <a:srgbClr val="1E293B"/>
                </a:solidFill>
                <a:latin typeface="Calibri"/>
              </a:defRPr>
            </a:pPr>
            <a:r>
              <a:t>Org: business, opu, division, skill_group,</a:t>
            </a:r>
          </a:p>
          <a:p>
            <a:pPr>
              <a:spcAft>
                <a:spcPts val="600"/>
              </a:spcAft>
              <a:defRPr sz="1200">
                <a:solidFill>
                  <a:srgbClr val="1E293B"/>
                </a:solidFill>
                <a:latin typeface="Calibri"/>
              </a:defRPr>
            </a:pPr>
            <a:r>
              <a:t>   discipline, sub_discipline</a:t>
            </a:r>
          </a:p>
          <a:p>
            <a:pPr>
              <a:spcAft>
                <a:spcPts val="600"/>
              </a:spcAft>
              <a:defRPr sz="1200">
                <a:solidFill>
                  <a:srgbClr val="1E293B"/>
                </a:solidFill>
                <a:latin typeface="Calibri"/>
              </a:defRPr>
            </a:pPr>
            <a:r>
              <a:t>Level: assessment_level, assessment_type,</a:t>
            </a:r>
          </a:p>
          <a:p>
            <a:pPr>
              <a:spcAft>
                <a:spcPts val="600"/>
              </a:spcAft>
              <a:defRPr sz="1200">
                <a:solidFill>
                  <a:srgbClr val="1E293B"/>
                </a:solidFill>
                <a:latin typeface="Calibri"/>
              </a:defRPr>
            </a:pPr>
            <a:r>
              <a:t>   qualified_level, passed_tpcp</a:t>
            </a:r>
          </a:p>
          <a:p>
            <a:pPr>
              <a:spcAft>
                <a:spcPts val="600"/>
              </a:spcAft>
              <a:defRPr sz="1200">
                <a:solidFill>
                  <a:srgbClr val="1E293B"/>
                </a:solidFill>
                <a:latin typeface="Calibri"/>
              </a:defRPr>
            </a:pPr>
            <a:r>
              <a:t>Rolled-up %s: base_pct, key_pct, pacing_pct,</a:t>
            </a:r>
          </a:p>
          <a:p>
            <a:pPr>
              <a:spcAft>
                <a:spcPts val="600"/>
              </a:spcAft>
              <a:defRPr sz="1200">
                <a:solidFill>
                  <a:srgbClr val="1E293B"/>
                </a:solidFill>
                <a:latin typeface="Calibri"/>
              </a:defRPr>
            </a:pPr>
            <a:r>
              <a:t>   emerging_pct, cti_met_pct</a:t>
            </a:r>
          </a:p>
          <a:p>
            <a:pPr>
              <a:spcAft>
                <a:spcPts val="600"/>
              </a:spcAft>
              <a:defRPr sz="1200">
                <a:solidFill>
                  <a:srgbClr val="1E293B"/>
                </a:solidFill>
                <a:latin typeface="Calibri"/>
              </a:defRPr>
            </a:pPr>
            <a:r>
              <a:t>Competency cells: 110+ fields</a:t>
            </a:r>
          </a:p>
          <a:p>
            <a:pPr>
              <a:spcAft>
                <a:spcPts val="600"/>
              </a:spcAft>
              <a:defRPr sz="1200">
                <a:solidFill>
                  <a:srgbClr val="1E293B"/>
                </a:solidFill>
                <a:latin typeface="Calibri"/>
              </a:defRPr>
            </a:pPr>
            <a:r>
              <a:t>   (B1–B25, K1–K15, P1–P10, E1–E10 + 2nd block)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48640" y="4663440"/>
            <a:ext cx="11247120" cy="1645920"/>
          </a:xfrm>
          <a:prstGeom prst="roundRect">
            <a:avLst/>
          </a:prstGeom>
          <a:solidFill>
            <a:srgbClr val="D1FAE5"/>
          </a:solidFill>
          <a:ln w="12700">
            <a:solidFill>
              <a:srgbClr val="0596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822960" y="48006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59669"/>
                </a:solidFill>
                <a:latin typeface="Calibri"/>
              </a:defRPr>
            </a:pPr>
            <a:r>
              <a:t>Left-join on dummy_id  →  unified employee records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" y="5257800"/>
            <a:ext cx="106984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300">
                <a:solidFill>
                  <a:srgbClr val="1E293B"/>
                </a:solidFill>
                <a:latin typeface="Calibri"/>
              </a:defRPr>
            </a:pPr>
            <a:r>
              <a:t>• 977 employees have BOTH HRIS and TPCP records  (full signal)</a:t>
            </a:r>
          </a:p>
          <a:p>
            <a:pPr>
              <a:spcAft>
                <a:spcPts val="600"/>
              </a:spcAft>
              <a:defRPr sz="1300">
                <a:solidFill>
                  <a:srgbClr val="1E293B"/>
                </a:solidFill>
                <a:latin typeface="Calibri"/>
              </a:defRPr>
            </a:pPr>
            <a:r>
              <a:t>• 8,477 employees are HRIS-only  (scored on CBS alone, zero on TPCP dimensions per decision)</a:t>
            </a:r>
          </a:p>
          <a:p>
            <a:pPr>
              <a:spcAft>
                <a:spcPts val="600"/>
              </a:spcAft>
              <a:defRPr sz="1300">
                <a:solidFill>
                  <a:srgbClr val="1E293B"/>
                </a:solidFill>
                <a:latin typeface="Calibri"/>
              </a:defRPr>
            </a:pPr>
            <a:r>
              <a:t>• 41 employees are TPCP-only  (edge case; scored on TPCP alone)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2004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1E293B"/>
                </a:solidFill>
                <a:latin typeface="Calibri"/>
              </a:defRPr>
            </a:pPr>
            <a:r>
              <a:t>Why Current Scoring Functions No Longer Fit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48640" y="1234440"/>
            <a:ext cx="640080" cy="45720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548640" y="1600200"/>
            <a:ext cx="2743200" cy="457200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  <a:latin typeface="Calibri"/>
              </a:defRPr>
            </a:pPr>
            <a:r>
              <a:t>Old Function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328416" y="1600200"/>
            <a:ext cx="1463040" cy="457200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  <a:latin typeface="Calibri"/>
              </a:defRPr>
            </a:pPr>
            <a:r>
              <a:t>Status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828032" y="1600200"/>
            <a:ext cx="7040880" cy="457200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  <a:latin typeface="Calibri"/>
              </a:defRPr>
            </a:pPr>
            <a:r>
              <a:t>Why It Fails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2103120"/>
            <a:ext cx="2743200" cy="822960"/>
          </a:xfrm>
          <a:prstGeom prst="roundRect">
            <a:avLst/>
          </a:prstGeom>
          <a:solidFill>
            <a:srgbClr val="DBEAFE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l">
              <a:defRPr sz="1200">
                <a:solidFill>
                  <a:srgbClr val="1E293B"/>
                </a:solidFill>
                <a:latin typeface="Calibri"/>
              </a:defRPr>
            </a:pPr>
            <a:r>
              <a:t>skill_overlap_score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328416" y="2103120"/>
            <a:ext cx="1463040" cy="822960"/>
          </a:xfrm>
          <a:prstGeom prst="roundRect">
            <a:avLst/>
          </a:prstGeom>
          <a:solidFill>
            <a:srgbClr val="DBEAFE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l">
              <a:defRPr sz="1200">
                <a:solidFill>
                  <a:srgbClr val="1E293B"/>
                </a:solidFill>
                <a:latin typeface="Calibri"/>
              </a:defRPr>
            </a:pPr>
            <a:r>
              <a:t>DELETED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828032" y="2103120"/>
            <a:ext cx="7040880" cy="822960"/>
          </a:xfrm>
          <a:prstGeom prst="roundRect">
            <a:avLst/>
          </a:prstGeom>
          <a:solidFill>
            <a:srgbClr val="DBEAFE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l">
              <a:defRPr sz="1200">
                <a:solidFill>
                  <a:srgbClr val="1E293B"/>
                </a:solidFill>
                <a:latin typeface="Calibri"/>
              </a:defRPr>
            </a:pPr>
            <a:r>
              <a:t>No 'skills' list in either file. Closest field is skill_group (broad category), not a skill-matching problem.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2962656"/>
            <a:ext cx="2743200" cy="822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l">
              <a:defRPr sz="1200">
                <a:solidFill>
                  <a:srgbClr val="1E293B"/>
                </a:solidFill>
                <a:latin typeface="Calibri"/>
              </a:defRPr>
            </a:pPr>
            <a:r>
              <a:t>experience_similarity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328416" y="2962656"/>
            <a:ext cx="1463040" cy="822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l">
              <a:defRPr sz="1200">
                <a:solidFill>
                  <a:srgbClr val="1E293B"/>
                </a:solidFill>
                <a:latin typeface="Calibri"/>
              </a:defRPr>
            </a:pPr>
            <a:r>
              <a:t>REPLACED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828032" y="2962656"/>
            <a:ext cx="7040880" cy="822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l">
              <a:defRPr sz="1200">
                <a:solidFill>
                  <a:srgbClr val="1E293B"/>
                </a:solidFill>
                <a:latin typeface="Calibri"/>
              </a:defRPr>
            </a:pPr>
            <a:r>
              <a:t>No 'years_experience' field. year_in_sg is re-purposed for promotion readiness, not similarity matching.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48640" y="3822192"/>
            <a:ext cx="2743200" cy="822960"/>
          </a:xfrm>
          <a:prstGeom prst="roundRect">
            <a:avLst/>
          </a:prstGeom>
          <a:solidFill>
            <a:srgbClr val="DBEAFE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l">
              <a:defRPr sz="1200">
                <a:solidFill>
                  <a:srgbClr val="1E293B"/>
                </a:solidFill>
                <a:latin typeface="Calibri"/>
              </a:defRPr>
            </a:pPr>
            <a:r>
              <a:t>role_match_score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328416" y="3822192"/>
            <a:ext cx="1463040" cy="822960"/>
          </a:xfrm>
          <a:prstGeom prst="roundRect">
            <a:avLst/>
          </a:prstGeom>
          <a:solidFill>
            <a:srgbClr val="DBEAFE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l">
              <a:defRPr sz="1200">
                <a:solidFill>
                  <a:srgbClr val="1E293B"/>
                </a:solidFill>
                <a:latin typeface="Calibri"/>
              </a:defRPr>
            </a:pPr>
            <a:r>
              <a:t>REPLACED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828032" y="3822192"/>
            <a:ext cx="7040880" cy="822960"/>
          </a:xfrm>
          <a:prstGeom prst="roundRect">
            <a:avLst/>
          </a:prstGeom>
          <a:solidFill>
            <a:srgbClr val="DBEAFE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l">
              <a:defRPr sz="1200">
                <a:solidFill>
                  <a:srgbClr val="1E293B"/>
                </a:solidFill>
                <a:latin typeface="Calibri"/>
              </a:defRPr>
            </a:pPr>
            <a:r>
              <a:t>junior/mid/senior scale does not exist. Real data uses job_grade (P1–P12) and assessment_level (Staff/Principal/Custodian).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48640" y="4681728"/>
            <a:ext cx="2743200" cy="822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l">
              <a:defRPr sz="1200">
                <a:solidFill>
                  <a:srgbClr val="1E293B"/>
                </a:solidFill>
                <a:latin typeface="Calibri"/>
              </a:defRPr>
            </a:pPr>
            <a:r>
              <a:t>competency_similarity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328416" y="4681728"/>
            <a:ext cx="1463040" cy="822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l">
              <a:defRPr sz="1200">
                <a:solidFill>
                  <a:srgbClr val="1E293B"/>
                </a:solidFill>
                <a:latin typeface="Calibri"/>
              </a:defRPr>
            </a:pPr>
            <a:r>
              <a:t>REPLACED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828032" y="4681728"/>
            <a:ext cx="7040880" cy="822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l">
              <a:defRPr sz="1200">
                <a:solidFill>
                  <a:srgbClr val="1E293B"/>
                </a:solidFill>
                <a:latin typeface="Calibri"/>
              </a:defRPr>
            </a:pPr>
            <a:r>
              <a:t>No single 0–5 score. Instead: 3 CBS %s + 4 TPCP dimension %s + pass/fail. Concept shifts from similarity to absolute health.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48640" y="5669280"/>
            <a:ext cx="11247120" cy="822960"/>
          </a:xfrm>
          <a:prstGeom prst="roundRect">
            <a:avLst/>
          </a:prstGeom>
          <a:solidFill>
            <a:srgbClr val="F0F7FF"/>
          </a:solidFill>
          <a:ln w="1270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822960" y="5806440"/>
            <a:ext cx="10698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2563EB"/>
                </a:solidFill>
                <a:latin typeface="Calibri"/>
              </a:defRPr>
            </a:pPr>
            <a:r>
              <a:t>Framework stays (filter → score → aggregate → insight). Functions are rewritten against fields that actually exist.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2004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1E293B"/>
                </a:solidFill>
                <a:latin typeface="Calibri"/>
              </a:defRPr>
            </a:pPr>
            <a:r>
              <a:t>New Core Primitives — 6 Health Scores (all 0–1)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48640" y="1234440"/>
            <a:ext cx="640080" cy="45720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365760" y="1554480"/>
            <a:ext cx="2103120" cy="457200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  <a:latin typeface="Calibri"/>
              </a:defRPr>
            </a:pPr>
            <a:r>
              <a:t>Score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505456" y="1554480"/>
            <a:ext cx="4846320" cy="457200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  <a:latin typeface="Calibri"/>
              </a:defRPr>
            </a:pPr>
            <a:r>
              <a:t>Formula (simplified)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88352" y="1554480"/>
            <a:ext cx="4297680" cy="457200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  <a:latin typeface="Calibri"/>
              </a:defRPr>
            </a:pPr>
            <a:r>
              <a:t>Source Fields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65760" y="2057400"/>
            <a:ext cx="2103120" cy="731520"/>
          </a:xfrm>
          <a:prstGeom prst="roundRect">
            <a:avLst/>
          </a:prstGeom>
          <a:solidFill>
            <a:srgbClr val="DBEAFE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l">
              <a:defRPr sz="1100">
                <a:solidFill>
                  <a:srgbClr val="1E293B"/>
                </a:solidFill>
                <a:latin typeface="Calibri"/>
              </a:defRPr>
            </a:pPr>
            <a:r>
              <a:t>1. TPCP Health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505456" y="2057400"/>
            <a:ext cx="4846320" cy="731520"/>
          </a:xfrm>
          <a:prstGeom prst="roundRect">
            <a:avLst/>
          </a:prstGeom>
          <a:solidFill>
            <a:srgbClr val="DBEAFE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l">
              <a:defRPr sz="1100">
                <a:solidFill>
                  <a:srgbClr val="1E293B"/>
                </a:solidFill>
                <a:latin typeface="Calibri"/>
              </a:defRPr>
            </a:pPr>
            <a:r>
              <a:t>0.6 × cti_met_pct + 0.4 × avg(base, key, pacing, emerging)</a:t>
            </a:r>
            <a:br/>
            <a:r>
              <a:t>+ pass boost (capped at 1.0)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88352" y="2057400"/>
            <a:ext cx="4297680" cy="731520"/>
          </a:xfrm>
          <a:prstGeom prst="roundRect">
            <a:avLst/>
          </a:prstGeom>
          <a:solidFill>
            <a:srgbClr val="DBEAFE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l">
              <a:defRPr sz="1100">
                <a:solidFill>
                  <a:srgbClr val="1E293B"/>
                </a:solidFill>
                <a:latin typeface="Calibri"/>
              </a:defRPr>
            </a:pPr>
            <a:r>
              <a:t>TPCP: cti_met_pct, base_pct, key_pct,</a:t>
            </a:r>
            <a:br/>
            <a:r>
              <a:t>pacing_pct, emerging_pct, passed_tpcp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65760" y="2825496"/>
            <a:ext cx="2103120" cy="7315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l">
              <a:defRPr sz="1100">
                <a:solidFill>
                  <a:srgbClr val="1E293B"/>
                </a:solidFill>
                <a:latin typeface="Calibri"/>
              </a:defRPr>
            </a:pPr>
            <a:r>
              <a:t>2. CBS Health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505456" y="2825496"/>
            <a:ext cx="4846320" cy="7315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l">
              <a:defRPr sz="1100">
                <a:solidFill>
                  <a:srgbClr val="1E293B"/>
                </a:solidFill>
                <a:latin typeface="Calibri"/>
              </a:defRPr>
            </a:pPr>
            <a:r>
              <a:t>0.5 × technical_cbs + 0.3 × overall_cbs + 0.2 × leadership_cbs</a:t>
            </a:r>
            <a:br/>
            <a:r>
              <a:t>(weights rebalanced if a dimension is missing)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88352" y="2825496"/>
            <a:ext cx="4297680" cy="7315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l">
              <a:defRPr sz="1100">
                <a:solidFill>
                  <a:srgbClr val="1E293B"/>
                </a:solidFill>
                <a:latin typeface="Calibri"/>
              </a:defRPr>
            </a:pPr>
            <a:r>
              <a:t>HRIS: technical_cbs_pct, overall_cbs_pct,</a:t>
            </a:r>
            <a:br/>
            <a:r>
              <a:t>leadership_cbs_pct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65760" y="3593592"/>
            <a:ext cx="2103120" cy="731520"/>
          </a:xfrm>
          <a:prstGeom prst="roundRect">
            <a:avLst/>
          </a:prstGeom>
          <a:solidFill>
            <a:srgbClr val="DBEAFE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l">
              <a:defRPr sz="1100">
                <a:solidFill>
                  <a:srgbClr val="1E293B"/>
                </a:solidFill>
                <a:latin typeface="Calibri"/>
              </a:defRPr>
            </a:pPr>
            <a:r>
              <a:t>3. Combined Competency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2505456" y="3593592"/>
            <a:ext cx="4846320" cy="731520"/>
          </a:xfrm>
          <a:prstGeom prst="roundRect">
            <a:avLst/>
          </a:prstGeom>
          <a:solidFill>
            <a:srgbClr val="DBEAFE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l">
              <a:defRPr sz="1100">
                <a:solidFill>
                  <a:srgbClr val="1E293B"/>
                </a:solidFill>
                <a:latin typeface="Calibri"/>
              </a:defRPr>
            </a:pPr>
            <a:r>
              <a:t>0.55 × TPCP Health + 0.45 × CBS Health</a:t>
            </a:r>
            <a:br/>
            <a:r>
              <a:t>(fallback to CBS alone if no TPCP record)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388352" y="3593592"/>
            <a:ext cx="4297680" cy="731520"/>
          </a:xfrm>
          <a:prstGeom prst="roundRect">
            <a:avLst/>
          </a:prstGeom>
          <a:solidFill>
            <a:srgbClr val="DBEAFE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l">
              <a:defRPr sz="1100">
                <a:solidFill>
                  <a:srgbClr val="1E293B"/>
                </a:solidFill>
                <a:latin typeface="Calibri"/>
              </a:defRPr>
            </a:pPr>
            <a:r>
              <a:t>Derived from #1 and #2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65760" y="4361688"/>
            <a:ext cx="2103120" cy="7315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l">
              <a:defRPr sz="1100">
                <a:solidFill>
                  <a:srgbClr val="1E293B"/>
                </a:solidFill>
                <a:latin typeface="Calibri"/>
              </a:defRPr>
            </a:pPr>
            <a:r>
              <a:t>4. Grade Fit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2505456" y="4361688"/>
            <a:ext cx="4846320" cy="7315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l">
              <a:defRPr sz="1100">
                <a:solidFill>
                  <a:srgbClr val="1E293B"/>
                </a:solidFill>
                <a:latin typeface="Calibri"/>
              </a:defRPr>
            </a:pPr>
            <a:r>
              <a:t>Alignment of job_grade ↔ assessment_level</a:t>
            </a:r>
            <a:br/>
            <a:r>
              <a:t>(exact=1.0, over=0.5, under=0.0)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388352" y="4361688"/>
            <a:ext cx="4297680" cy="7315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l">
              <a:defRPr sz="1100">
                <a:solidFill>
                  <a:srgbClr val="1E293B"/>
                </a:solidFill>
                <a:latin typeface="Calibri"/>
              </a:defRPr>
            </a:pPr>
            <a:r>
              <a:t>HRIS: job_grade  |  TPCP: assessment_level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365760" y="5129784"/>
            <a:ext cx="2103120" cy="731520"/>
          </a:xfrm>
          <a:prstGeom prst="roundRect">
            <a:avLst/>
          </a:prstGeom>
          <a:solidFill>
            <a:srgbClr val="DBEAFE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l">
              <a:defRPr sz="1100">
                <a:solidFill>
                  <a:srgbClr val="1E293B"/>
                </a:solidFill>
                <a:latin typeface="Calibri"/>
              </a:defRPr>
            </a:pPr>
            <a:r>
              <a:t>5. Tenure Readiness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2505456" y="5129784"/>
            <a:ext cx="4846320" cy="731520"/>
          </a:xfrm>
          <a:prstGeom prst="roundRect">
            <a:avLst/>
          </a:prstGeom>
          <a:solidFill>
            <a:srgbClr val="DBEAFE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l">
              <a:defRPr sz="1100">
                <a:solidFill>
                  <a:srgbClr val="1E293B"/>
                </a:solidFill>
                <a:latin typeface="Calibri"/>
              </a:defRPr>
            </a:pPr>
            <a:r>
              <a:t>min(year_in_sg / grade_tenure_threshold, 1.0)</a:t>
            </a:r>
            <a:br/>
            <a:r>
              <a:t>thresholds: P1–P3 → 3y, P4–P6 → 4y, P7+ → 5y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388352" y="5129784"/>
            <a:ext cx="4297680" cy="731520"/>
          </a:xfrm>
          <a:prstGeom prst="roundRect">
            <a:avLst/>
          </a:prstGeom>
          <a:solidFill>
            <a:srgbClr val="DBEAFE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l">
              <a:defRPr sz="1100">
                <a:solidFill>
                  <a:srgbClr val="1E293B"/>
                </a:solidFill>
                <a:latin typeface="Calibri"/>
              </a:defRPr>
            </a:pPr>
            <a:r>
              <a:t>HRIS: year_in_sg, job_grade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365760" y="5897880"/>
            <a:ext cx="2103120" cy="7315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l">
              <a:defRPr sz="1100">
                <a:solidFill>
                  <a:srgbClr val="1E293B"/>
                </a:solidFill>
                <a:latin typeface="Calibri"/>
              </a:defRPr>
            </a:pPr>
            <a:r>
              <a:t>6. Critical Gap Score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2505456" y="5897880"/>
            <a:ext cx="4846320" cy="7315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l">
              <a:defRPr sz="1100">
                <a:solidFill>
                  <a:srgbClr val="1E293B"/>
                </a:solidFill>
                <a:latin typeface="Calibri"/>
              </a:defRPr>
            </a:pPr>
            <a:r>
              <a:t>1 − (count of competency cells scored 0 or 1 / total cells)</a:t>
            </a:r>
            <a:br/>
            <a:r>
              <a:t>from B/K/P/E blocks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388352" y="5897880"/>
            <a:ext cx="4297680" cy="7315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l">
              <a:defRPr sz="1100">
                <a:solidFill>
                  <a:srgbClr val="1E293B"/>
                </a:solidFill>
                <a:latin typeface="Calibri"/>
              </a:defRPr>
            </a:pPr>
            <a:r>
              <a:t>TPCP: B1–B25, K1–K15, P1–P10, E1–E10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2004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1E293B"/>
                </a:solidFill>
                <a:latin typeface="Calibri"/>
              </a:defRPr>
            </a:pPr>
            <a:r>
              <a:t>Hard Filters &amp; Org Scope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9144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64748B"/>
                </a:solidFill>
                <a:latin typeface="Calibri"/>
              </a:defRPr>
            </a:pPr>
            <a:r>
              <a:t>What narrows the population before scoring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234440"/>
            <a:ext cx="640080" cy="45720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548640" y="1600200"/>
            <a:ext cx="5486400" cy="4846320"/>
          </a:xfrm>
          <a:prstGeom prst="roundRect">
            <a:avLst/>
          </a:prstGeom>
          <a:solidFill>
            <a:srgbClr val="FEE2E2"/>
          </a:solidFill>
          <a:ln w="12700">
            <a:solidFill>
              <a:srgbClr val="DC26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22960" y="1737360"/>
            <a:ext cx="4937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DC2626"/>
                </a:solidFill>
                <a:latin typeface="Calibri"/>
              </a:defRPr>
            </a:pPr>
            <a:r>
              <a:t>Mandatory Hard Filter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22960" y="2377440"/>
            <a:ext cx="4937760" cy="13716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26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005840" y="246888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E293B"/>
                </a:solidFill>
                <a:latin typeface="Calibri"/>
              </a:defRPr>
            </a:pPr>
            <a:r>
              <a:t>Org Scope (match ALL):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2834640"/>
            <a:ext cx="4572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300">
                <a:solidFill>
                  <a:srgbClr val="1E293B"/>
                </a:solidFill>
                <a:latin typeface="Calibri"/>
              </a:defRPr>
            </a:pPr>
            <a:r>
              <a:t>business   =   user.business</a:t>
            </a:r>
          </a:p>
          <a:p>
            <a:pPr>
              <a:spcAft>
                <a:spcPts val="600"/>
              </a:spcAft>
              <a:defRPr sz="1300">
                <a:solidFill>
                  <a:srgbClr val="1E293B"/>
                </a:solidFill>
                <a:latin typeface="Calibri"/>
              </a:defRPr>
            </a:pPr>
            <a:r>
              <a:t>opu        =   user.opu</a:t>
            </a:r>
          </a:p>
          <a:p>
            <a:pPr>
              <a:spcAft>
                <a:spcPts val="600"/>
              </a:spcAft>
              <a:defRPr sz="1300">
                <a:solidFill>
                  <a:srgbClr val="1E293B"/>
                </a:solidFill>
                <a:latin typeface="Calibri"/>
              </a:defRPr>
            </a:pPr>
            <a:r>
              <a:t>division   =   user.division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3931920"/>
            <a:ext cx="4937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DC2626"/>
                </a:solidFill>
                <a:latin typeface="Calibri"/>
              </a:defRPr>
            </a:pPr>
            <a:r>
              <a:t>Dropped / Demoted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" y="4480560"/>
            <a:ext cx="45720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200">
                <a:solidFill>
                  <a:srgbClr val="1E293B"/>
                </a:solidFill>
                <a:latin typeface="Calibri"/>
              </a:defRPr>
            </a:pPr>
            <a:r>
              <a:t>• availability  →  field does not exist</a:t>
            </a:r>
          </a:p>
          <a:p>
            <a:pPr>
              <a:spcAft>
                <a:spcPts val="600"/>
              </a:spcAft>
              <a:defRPr sz="1200">
                <a:solidFill>
                  <a:srgbClr val="1E293B"/>
                </a:solidFill>
                <a:latin typeface="Calibri"/>
              </a:defRPr>
            </a:pPr>
            <a:r>
              <a:t>• skills overlap  →  no skills list in data</a:t>
            </a:r>
          </a:p>
          <a:p>
            <a:pPr>
              <a:spcAft>
                <a:spcPts val="600"/>
              </a:spcAft>
              <a:defRPr sz="1200">
                <a:solidFill>
                  <a:srgbClr val="1E293B"/>
                </a:solidFill>
                <a:latin typeface="Calibri"/>
              </a:defRPr>
            </a:pPr>
            <a:r>
              <a:t>• role_level (junior/mid/senior)  →  no such scale</a:t>
            </a:r>
          </a:p>
          <a:p>
            <a:pPr>
              <a:spcAft>
                <a:spcPts val="600"/>
              </a:spcAft>
              <a:defRPr sz="1200">
                <a:solidFill>
                  <a:srgbClr val="1E293B"/>
                </a:solidFill>
                <a:latin typeface="Calibri"/>
              </a:defRPr>
            </a:pPr>
            <a:r>
              <a:t>• min_experience  →  no years_experience field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309360" y="1600200"/>
            <a:ext cx="5486400" cy="4846320"/>
          </a:xfrm>
          <a:prstGeom prst="roundRect">
            <a:avLst/>
          </a:prstGeom>
          <a:solidFill>
            <a:srgbClr val="F0F7FF"/>
          </a:solidFill>
          <a:ln w="1270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583680" y="1737360"/>
            <a:ext cx="4937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2563EB"/>
                </a:solidFill>
                <a:latin typeface="Calibri"/>
              </a:defRPr>
            </a:pPr>
            <a:r>
              <a:t>Everything Else → Signal, Not Filter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83680" y="2286000"/>
            <a:ext cx="493776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200">
                <a:solidFill>
                  <a:srgbClr val="1E293B"/>
                </a:solidFill>
                <a:latin typeface="Calibri"/>
              </a:defRPr>
            </a:pPr>
            <a:r>
              <a:t>• SMA completion status → attribute, not gate</a:t>
            </a:r>
          </a:p>
          <a:p>
            <a:pPr>
              <a:spcAft>
                <a:spcPts val="600"/>
              </a:spcAft>
              <a:defRPr sz="1200">
                <a:solidFill>
                  <a:srgbClr val="1E293B"/>
                </a:solidFill>
                <a:latin typeface="Calibri"/>
              </a:defRPr>
            </a:pPr>
            <a:r>
              <a:t>   (used to flag 'not assessed' individuals)</a:t>
            </a:r>
          </a:p>
          <a:p>
            <a:pPr>
              <a:spcAft>
                <a:spcPts val="600"/>
              </a:spcAft>
              <a:defRPr sz="1200">
                <a:solidFill>
                  <a:srgbClr val="1E293B"/>
                </a:solidFill>
                <a:latin typeface="Calibri"/>
              </a:defRPr>
            </a:pPr>
            <a:endParaRPr/>
          </a:p>
          <a:p>
            <a:pPr>
              <a:spcAft>
                <a:spcPts val="600"/>
              </a:spcAft>
              <a:defRPr sz="1200">
                <a:solidFill>
                  <a:srgbClr val="1E293B"/>
                </a:solidFill>
                <a:latin typeface="Calibri"/>
              </a:defRPr>
            </a:pPr>
            <a:r>
              <a:t>• job_grade &amp; assessment_level → feed the</a:t>
            </a:r>
          </a:p>
          <a:p>
            <a:pPr>
              <a:spcAft>
                <a:spcPts val="600"/>
              </a:spcAft>
              <a:defRPr sz="1200">
                <a:solidFill>
                  <a:srgbClr val="1E293B"/>
                </a:solidFill>
                <a:latin typeface="Calibri"/>
              </a:defRPr>
            </a:pPr>
            <a:r>
              <a:t>   Grade Fit score (#4)</a:t>
            </a:r>
          </a:p>
          <a:p>
            <a:pPr>
              <a:spcAft>
                <a:spcPts val="600"/>
              </a:spcAft>
              <a:defRPr sz="1200">
                <a:solidFill>
                  <a:srgbClr val="1E293B"/>
                </a:solidFill>
                <a:latin typeface="Calibri"/>
              </a:defRPr>
            </a:pPr>
            <a:endParaRPr/>
          </a:p>
          <a:p>
            <a:pPr>
              <a:spcAft>
                <a:spcPts val="600"/>
              </a:spcAft>
              <a:defRPr sz="1200">
                <a:solidFill>
                  <a:srgbClr val="1E293B"/>
                </a:solidFill>
                <a:latin typeface="Calibri"/>
              </a:defRPr>
            </a:pPr>
            <a:r>
              <a:t>• year_in_sg → feeds Tenure Readiness (#5)</a:t>
            </a:r>
          </a:p>
          <a:p>
            <a:pPr>
              <a:spcAft>
                <a:spcPts val="600"/>
              </a:spcAft>
              <a:defRPr sz="1200">
                <a:solidFill>
                  <a:srgbClr val="1E293B"/>
                </a:solidFill>
                <a:latin typeface="Calibri"/>
              </a:defRPr>
            </a:pPr>
            <a:endParaRPr/>
          </a:p>
          <a:p>
            <a:pPr>
              <a:spcAft>
                <a:spcPts val="600"/>
              </a:spcAft>
              <a:defRPr sz="1200">
                <a:solidFill>
                  <a:srgbClr val="1E293B"/>
                </a:solidFill>
                <a:latin typeface="Calibri"/>
              </a:defRPr>
            </a:pPr>
            <a:r>
              <a:t>• passed_tpcp → flag surfaced in output,</a:t>
            </a:r>
          </a:p>
          <a:p>
            <a:pPr>
              <a:spcAft>
                <a:spcPts val="600"/>
              </a:spcAft>
              <a:defRPr sz="1200">
                <a:solidFill>
                  <a:srgbClr val="1E293B"/>
                </a:solidFill>
                <a:latin typeface="Calibri"/>
              </a:defRPr>
            </a:pPr>
            <a:r>
              <a:t>   also boosts TPCP Health (#1)</a:t>
            </a:r>
          </a:p>
          <a:p>
            <a:pPr>
              <a:spcAft>
                <a:spcPts val="600"/>
              </a:spcAft>
              <a:defRPr sz="1200">
                <a:solidFill>
                  <a:srgbClr val="1E293B"/>
                </a:solidFill>
                <a:latin typeface="Calibri"/>
              </a:defRPr>
            </a:pPr>
            <a:endParaRPr/>
          </a:p>
          <a:p>
            <a:pPr>
              <a:spcAft>
                <a:spcPts val="600"/>
              </a:spcAft>
              <a:defRPr sz="1200">
                <a:solidFill>
                  <a:srgbClr val="1E293B"/>
                </a:solidFill>
                <a:latin typeface="Calibri"/>
              </a:defRPr>
            </a:pPr>
            <a:r>
              <a:t>• skill_group / discipline / sub_discipline →</a:t>
            </a:r>
          </a:p>
          <a:p>
            <a:pPr>
              <a:spcAft>
                <a:spcPts val="600"/>
              </a:spcAft>
              <a:defRPr sz="1200">
                <a:solidFill>
                  <a:srgbClr val="1E293B"/>
                </a:solidFill>
                <a:latin typeface="Calibri"/>
              </a:defRPr>
            </a:pPr>
            <a:r>
              <a:t>   grouping dimensions for gap analysis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2004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1E293B"/>
                </a:solidFill>
                <a:latin typeface="Calibri"/>
              </a:defRPr>
            </a:pPr>
            <a:r>
              <a:t>New Pipeline Architecture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48640" y="1234440"/>
            <a:ext cx="640080" cy="45720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457200" y="1737360"/>
            <a:ext cx="2194560" cy="1188720"/>
          </a:xfrm>
          <a:prstGeom prst="roundRect">
            <a:avLst/>
          </a:prstGeom>
          <a:solidFill>
            <a:srgbClr val="F0F7FF"/>
          </a:solidFill>
          <a:ln w="1270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94360" y="1874520"/>
            <a:ext cx="1920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1E293B"/>
                </a:solidFill>
                <a:latin typeface="Calibri"/>
              </a:defRPr>
            </a:pPr>
            <a:r>
              <a:t>HOD/GM Query</a:t>
            </a:r>
            <a:br/>
            <a:r>
              <a:t>(team + question)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743200" y="2148840"/>
            <a:ext cx="365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64748B"/>
                </a:solidFill>
                <a:latin typeface="Calibri"/>
              </a:defRPr>
            </a:pPr>
            <a:r>
              <a:t>→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200400" y="1737360"/>
            <a:ext cx="2194560" cy="1188720"/>
          </a:xfrm>
          <a:prstGeom prst="roundRect">
            <a:avLst/>
          </a:prstGeom>
          <a:solidFill>
            <a:srgbClr val="D1FAE5"/>
          </a:solidFill>
          <a:ln w="12700">
            <a:solidFill>
              <a:srgbClr val="0596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3337560" y="1874520"/>
            <a:ext cx="1920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1E293B"/>
                </a:solidFill>
                <a:latin typeface="Calibri"/>
              </a:defRPr>
            </a:pPr>
            <a:r>
              <a:t>Employee Join</a:t>
            </a:r>
            <a:br/>
            <a:r>
              <a:t>HRIS ⋈ TPCP</a:t>
            </a:r>
            <a:br/>
            <a:r>
              <a:t>on dummy_id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0" y="2148840"/>
            <a:ext cx="365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64748B"/>
                </a:solidFill>
                <a:latin typeface="Calibri"/>
              </a:defRPr>
            </a:pPr>
            <a:r>
              <a:t>→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943600" y="1737360"/>
            <a:ext cx="2194560" cy="1188720"/>
          </a:xfrm>
          <a:prstGeom prst="roundRect">
            <a:avLst/>
          </a:prstGeom>
          <a:solidFill>
            <a:srgbClr val="FEE2E2"/>
          </a:solidFill>
          <a:ln w="12700">
            <a:solidFill>
              <a:srgbClr val="DC26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080760" y="1874520"/>
            <a:ext cx="1920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1E293B"/>
                </a:solidFill>
                <a:latin typeface="Calibri"/>
              </a:defRPr>
            </a:pPr>
            <a:r>
              <a:t>Org Scope Filter</a:t>
            </a:r>
            <a:br/>
            <a:r>
              <a:t>business / opu /</a:t>
            </a:r>
            <a:br/>
            <a:r>
              <a:t>division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743200" y="301752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64748B"/>
                </a:solidFill>
                <a:latin typeface="Calibri"/>
              </a:defRPr>
            </a:pPr>
            <a:r>
              <a:t>↓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57200" y="3474720"/>
            <a:ext cx="3474720" cy="1371600"/>
          </a:xfrm>
          <a:prstGeom prst="roundRect">
            <a:avLst/>
          </a:prstGeom>
          <a:solidFill>
            <a:srgbClr val="DBEAFE"/>
          </a:solidFill>
          <a:ln w="1270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40080" y="3657600"/>
            <a:ext cx="310896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1E293B"/>
                </a:solidFill>
                <a:latin typeface="Calibri"/>
              </a:defRPr>
            </a:pPr>
            <a:r>
              <a:t>Per-Person Scoring</a:t>
            </a:r>
            <a:br/>
            <a:r>
              <a:t>6 health scores</a:t>
            </a:r>
            <a:br/>
            <a:r>
              <a:t>per employee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160520" y="3474720"/>
            <a:ext cx="3474720" cy="1371600"/>
          </a:xfrm>
          <a:prstGeom prst="roundRect">
            <a:avLst/>
          </a:prstGeom>
          <a:solidFill>
            <a:srgbClr val="F3E8FF"/>
          </a:solidFill>
          <a:ln w="1270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4343400" y="3657600"/>
            <a:ext cx="310896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1E293B"/>
                </a:solidFill>
                <a:latin typeface="Calibri"/>
              </a:defRPr>
            </a:pPr>
            <a:r>
              <a:t>Team Aggregate Rollup</a:t>
            </a:r>
            <a:br/>
            <a:r>
              <a:t>pass rates, level distribution,</a:t>
            </a:r>
            <a:br/>
            <a:r>
              <a:t>avg CBS, avg TPCP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863840" y="3474720"/>
            <a:ext cx="3474720" cy="1371600"/>
          </a:xfrm>
          <a:prstGeom prst="roundRect">
            <a:avLst/>
          </a:prstGeom>
          <a:solidFill>
            <a:srgbClr val="FEF9C3"/>
          </a:solidFill>
          <a:ln w="12700">
            <a:solidFill>
              <a:srgbClr val="CA8A0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8046720" y="3657600"/>
            <a:ext cx="310896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1E293B"/>
                </a:solidFill>
                <a:latin typeface="Calibri"/>
              </a:defRPr>
            </a:pPr>
            <a:r>
              <a:t>Gap Matrix Analysis</a:t>
            </a:r>
            <a:br/>
            <a:r>
              <a:t>competency cell heatmap,</a:t>
            </a:r>
            <a:br/>
            <a:r>
              <a:t>people vs structural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669280" y="493776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64748B"/>
                </a:solidFill>
                <a:latin typeface="Calibri"/>
              </a:defRPr>
            </a:pPr>
            <a:r>
              <a:t>↓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57200" y="5394960"/>
            <a:ext cx="5303520" cy="1097280"/>
          </a:xfrm>
          <a:prstGeom prst="roundRect">
            <a:avLst/>
          </a:prstGeom>
          <a:solidFill>
            <a:srgbClr val="D1FAE5"/>
          </a:solidFill>
          <a:ln w="12700">
            <a:solidFill>
              <a:srgbClr val="0596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640080" y="5532120"/>
            <a:ext cx="49377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1E293B"/>
                </a:solidFill>
                <a:latin typeface="Calibri"/>
              </a:defRPr>
            </a:pPr>
            <a:r>
              <a:t>Insight Engine</a:t>
            </a:r>
            <a:br/>
            <a:r>
              <a:t>rule-based action triage (training / exposure / hiring, 6–12m horizon)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806440" y="5806440"/>
            <a:ext cx="365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64748B"/>
                </a:solidFill>
                <a:latin typeface="Calibri"/>
              </a:defRPr>
            </a:pPr>
            <a:r>
              <a:t>→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309360" y="5394960"/>
            <a:ext cx="5486400" cy="109728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6492240" y="5532120"/>
            <a:ext cx="51206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Calibri"/>
              </a:defRPr>
            </a:pPr>
            <a:r>
              <a:t>Pure JSON Output</a:t>
            </a:r>
            <a:br/>
            <a:r>
              <a:t>team snapshot · flagged individuals · ranked gaps · actions</a:t>
            </a:r>
            <a:br/>
            <a:r>
              <a:t>→ passed to conversation layer for narrative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2004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1E293B"/>
                </a:solidFill>
                <a:latin typeface="Calibri"/>
              </a:defRPr>
            </a:pPr>
            <a:r>
              <a:t>Output for Each Question Type (JSON Examples)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48640" y="1234440"/>
            <a:ext cx="640080" cy="45720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457200" y="1554480"/>
            <a:ext cx="5669280" cy="4937760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40080" y="1645920"/>
            <a:ext cx="5303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2563EB"/>
                </a:solidFill>
                <a:latin typeface="Calibri"/>
              </a:defRPr>
            </a:pPr>
            <a:r>
              <a:t>Q: 'How did my talents perform in TPCP?'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011680"/>
            <a:ext cx="530352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1E293B"/>
                </a:solidFill>
                <a:latin typeface="Consolas"/>
              </a:defRPr>
            </a:pPr>
            <a:r>
              <a:t>{</a:t>
            </a:r>
            <a:br/>
            <a:r>
              <a:t>  "team_size": 45,</a:t>
            </a:r>
            <a:br/>
            <a:r>
              <a:t>  "assessed": 32,</a:t>
            </a:r>
            <a:br/>
            <a:r>
              <a:t>  "not_assessed": 13,</a:t>
            </a:r>
            <a:br/>
            <a:r>
              <a:t>  "pass_rate": 0.84,</a:t>
            </a:r>
            <a:br/>
            <a:r>
              <a:t>  "level_distribution": {</a:t>
            </a:r>
            <a:br/>
            <a:r>
              <a:t>    "Staff": 20, "Principal": 8,</a:t>
            </a:r>
            <a:br/>
            <a:r>
              <a:t>    "Custodian": 2, "Not TP": 2</a:t>
            </a:r>
            <a:br/>
            <a:r>
              <a:t>  },</a:t>
            </a:r>
            <a:br/>
            <a:r>
              <a:t>  "avg_cti_met_pct": 0.74,</a:t>
            </a:r>
            <a:br/>
            <a:r>
              <a:t>  "weakest_dimension": "pacing"</a:t>
            </a:r>
            <a:br/>
            <a:r>
              <a:t>}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4206240"/>
            <a:ext cx="5303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2563EB"/>
                </a:solidFill>
                <a:latin typeface="Calibri"/>
              </a:defRPr>
            </a:pPr>
            <a:r>
              <a:t>Q: 'Who is promotable in my division?'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4572000"/>
            <a:ext cx="530352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1E293B"/>
                </a:solidFill>
                <a:latin typeface="Consolas"/>
              </a:defRPr>
            </a:pPr>
            <a:r>
              <a:t>{</a:t>
            </a:r>
            <a:br/>
            <a:r>
              <a:t>  "promotable": [</a:t>
            </a:r>
            <a:br/>
            <a:r>
              <a:t>    {"employee_name": "...",</a:t>
            </a:r>
            <a:br/>
            <a:r>
              <a:t>     "job_grade": "P4", "next_grade": "P5",</a:t>
            </a:r>
            <a:br/>
            <a:r>
              <a:t>     "combined_score": 0.82,</a:t>
            </a:r>
            <a:br/>
            <a:r>
              <a:t>     "year_in_sg": 4.2,</a:t>
            </a:r>
            <a:br/>
            <a:r>
              <a:t>     "passed_tpcp": "Y",</a:t>
            </a:r>
            <a:br/>
            <a:r>
              <a:t>     "gap_count": 2}</a:t>
            </a:r>
            <a:br/>
            <a:r>
              <a:t>  ]</a:t>
            </a:r>
            <a:br/>
            <a:r>
              <a:t>}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309360" y="1554480"/>
            <a:ext cx="5486400" cy="4937760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492240" y="1645920"/>
            <a:ext cx="5120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2563EB"/>
                </a:solidFill>
                <a:latin typeface="Calibri"/>
              </a:defRPr>
            </a:pPr>
            <a:r>
              <a:t>Q: 'Who still has critical gaps?'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92240" y="2011680"/>
            <a:ext cx="512064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1E293B"/>
                </a:solidFill>
                <a:latin typeface="Consolas"/>
              </a:defRPr>
            </a:pPr>
            <a:r>
              <a:t>{</a:t>
            </a:r>
            <a:br/>
            <a:r>
              <a:t>  "flagged": [</a:t>
            </a:r>
            <a:br/>
            <a:r>
              <a:t>    {"employee_name": "...",</a:t>
            </a:r>
            <a:br/>
            <a:r>
              <a:t>     "qualified_level": "Staff",</a:t>
            </a:r>
            <a:br/>
            <a:r>
              <a:t>     "combined_score": 0.42,</a:t>
            </a:r>
            <a:br/>
            <a:r>
              <a:t>     "gap_count": 8,</a:t>
            </a:r>
            <a:br/>
            <a:r>
              <a:t>     "weakest_cells": ["k3", "p2", "e1"]}</a:t>
            </a:r>
            <a:br/>
            <a:r>
              <a:t>  ]</a:t>
            </a:r>
            <a:br/>
            <a:r>
              <a:t>}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92240" y="3749039"/>
            <a:ext cx="5120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2563EB"/>
                </a:solidFill>
                <a:latin typeface="Calibri"/>
              </a:defRPr>
            </a:pPr>
            <a:r>
              <a:t>Q: 'What actions should we take?'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92240" y="4160520"/>
            <a:ext cx="512064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1E293B"/>
                </a:solidFill>
                <a:latin typeface="Consolas"/>
              </a:defRPr>
            </a:pPr>
            <a:r>
              <a:t>{</a:t>
            </a:r>
            <a:br/>
            <a:r>
              <a:t>  "actions": [</a:t>
            </a:r>
            <a:br/>
            <a:r>
              <a:t>    {"type": "training", "priority": "high",</a:t>
            </a:r>
            <a:br/>
            <a:r>
              <a:t>     "reason": "structural gap in Pacing",</a:t>
            </a:r>
            <a:br/>
            <a:r>
              <a:t>     "affects": 18},</a:t>
            </a:r>
            <a:br/>
            <a:r>
              <a:t>    {"type": "exposure", "priority": "medium",</a:t>
            </a:r>
            <a:br/>
            <a:r>
              <a:t>     "reason": "Principals missing E3–E5",</a:t>
            </a:r>
            <a:br/>
            <a:r>
              <a:t>     "affects": 4}</a:t>
            </a:r>
            <a:br/>
            <a:r>
              <a:t>  ]</a:t>
            </a:r>
            <a:br/>
            <a:r>
              <a:t>}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2004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1E293B"/>
                </a:solidFill>
                <a:latin typeface="Calibri"/>
              </a:defRPr>
            </a:pPr>
            <a:r>
              <a:t>Gap Analysis — People vs Structural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9144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64748B"/>
                </a:solidFill>
                <a:latin typeface="Calibri"/>
              </a:defRPr>
            </a:pPr>
            <a:r>
              <a:t>Answers: 'Is this a people issue or a structural competency gap?'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234440"/>
            <a:ext cx="640080" cy="45720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48640" y="155448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1E293B"/>
                </a:solidFill>
                <a:latin typeface="Calibri"/>
              </a:defRPr>
            </a:pPr>
            <a:r>
              <a:t>For each competency cell (b1–b25, k1–k15, p1–p10, e1–e10), compute the team failure rate: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2194560"/>
            <a:ext cx="1645920" cy="457200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  <a:latin typeface="Calibri"/>
              </a:defRPr>
            </a:pPr>
            <a:r>
              <a:t>Failure Rate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231136" y="2194560"/>
            <a:ext cx="2011680" cy="457200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  <a:latin typeface="Calibri"/>
              </a:defRPr>
            </a:pPr>
            <a:r>
              <a:t>Classification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279392" y="2194560"/>
            <a:ext cx="3840480" cy="457200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  <a:latin typeface="Calibri"/>
              </a:defRPr>
            </a:pPr>
            <a:r>
              <a:t>Interpretation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156448" y="2194560"/>
            <a:ext cx="3657600" cy="457200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  <a:latin typeface="Calibri"/>
              </a:defRPr>
            </a:pPr>
            <a:r>
              <a:t>Recommended Action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2697480"/>
            <a:ext cx="1645920" cy="914400"/>
          </a:xfrm>
          <a:prstGeom prst="roundRect">
            <a:avLst/>
          </a:prstGeom>
          <a:solidFill>
            <a:srgbClr val="DBEAFE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l">
              <a:defRPr sz="1200">
                <a:solidFill>
                  <a:srgbClr val="1E293B"/>
                </a:solidFill>
                <a:latin typeface="Calibri"/>
              </a:defRPr>
            </a:pPr>
            <a:r>
              <a:t>≥ 60%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231136" y="2697480"/>
            <a:ext cx="2011680" cy="914400"/>
          </a:xfrm>
          <a:prstGeom prst="roundRect">
            <a:avLst/>
          </a:prstGeom>
          <a:solidFill>
            <a:srgbClr val="DBEAFE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l">
              <a:defRPr sz="1200">
                <a:solidFill>
                  <a:srgbClr val="1E293B"/>
                </a:solidFill>
                <a:latin typeface="Calibri"/>
              </a:defRPr>
            </a:pPr>
            <a:r>
              <a:t>STRUCTURAL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279392" y="2697480"/>
            <a:ext cx="3840480" cy="914400"/>
          </a:xfrm>
          <a:prstGeom prst="roundRect">
            <a:avLst/>
          </a:prstGeom>
          <a:solidFill>
            <a:srgbClr val="DBEAFE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l">
              <a:defRPr sz="1200">
                <a:solidFill>
                  <a:srgbClr val="1E293B"/>
                </a:solidFill>
                <a:latin typeface="Calibri"/>
              </a:defRPr>
            </a:pPr>
            <a:r>
              <a:t>Team-wide deficiency — not an individual problem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156448" y="2697480"/>
            <a:ext cx="3657600" cy="914400"/>
          </a:xfrm>
          <a:prstGeom prst="roundRect">
            <a:avLst/>
          </a:prstGeom>
          <a:solidFill>
            <a:srgbClr val="DBEAFE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l">
              <a:defRPr sz="1200">
                <a:solidFill>
                  <a:srgbClr val="1E293B"/>
                </a:solidFill>
                <a:latin typeface="Calibri"/>
              </a:defRPr>
            </a:pPr>
            <a:r>
              <a:t>Systemic training program, curriculum review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48640" y="3648456"/>
            <a:ext cx="1645920" cy="914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l">
              <a:defRPr sz="1200">
                <a:solidFill>
                  <a:srgbClr val="1E293B"/>
                </a:solidFill>
                <a:latin typeface="Calibri"/>
              </a:defRPr>
            </a:pPr>
            <a:r>
              <a:t>20% – 60%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2231136" y="3648456"/>
            <a:ext cx="2011680" cy="914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l">
              <a:defRPr sz="1200">
                <a:solidFill>
                  <a:srgbClr val="1E293B"/>
                </a:solidFill>
                <a:latin typeface="Calibri"/>
              </a:defRPr>
            </a:pPr>
            <a:r>
              <a:t>MIXED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279392" y="3648456"/>
            <a:ext cx="3840480" cy="914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l">
              <a:defRPr sz="1200">
                <a:solidFill>
                  <a:srgbClr val="1E293B"/>
                </a:solidFill>
                <a:latin typeface="Calibri"/>
              </a:defRPr>
            </a:pPr>
            <a:r>
              <a:t>Sub-group weakness — targeted pockets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156448" y="3648456"/>
            <a:ext cx="3657600" cy="914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l">
              <a:defRPr sz="1200">
                <a:solidFill>
                  <a:srgbClr val="1E293B"/>
                </a:solidFill>
                <a:latin typeface="Calibri"/>
              </a:defRPr>
            </a:pPr>
            <a:r>
              <a:t>Targeted intervention, peer mentoring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48640" y="4599432"/>
            <a:ext cx="1645920" cy="914400"/>
          </a:xfrm>
          <a:prstGeom prst="roundRect">
            <a:avLst/>
          </a:prstGeom>
          <a:solidFill>
            <a:srgbClr val="DBEAFE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l">
              <a:defRPr sz="1200">
                <a:solidFill>
                  <a:srgbClr val="1E293B"/>
                </a:solidFill>
                <a:latin typeface="Calibri"/>
              </a:defRPr>
            </a:pPr>
            <a:r>
              <a:t>&lt; 20%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2231136" y="4599432"/>
            <a:ext cx="2011680" cy="914400"/>
          </a:xfrm>
          <a:prstGeom prst="roundRect">
            <a:avLst/>
          </a:prstGeom>
          <a:solidFill>
            <a:srgbClr val="DBEAFE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l">
              <a:defRPr sz="1200">
                <a:solidFill>
                  <a:srgbClr val="1E293B"/>
                </a:solidFill>
                <a:latin typeface="Calibri"/>
              </a:defRPr>
            </a:pPr>
            <a:r>
              <a:t>PEOPLE ISSUE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279392" y="4599432"/>
            <a:ext cx="3840480" cy="914400"/>
          </a:xfrm>
          <a:prstGeom prst="roundRect">
            <a:avLst/>
          </a:prstGeom>
          <a:solidFill>
            <a:srgbClr val="DBEAFE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l">
              <a:defRPr sz="1200">
                <a:solidFill>
                  <a:srgbClr val="1E293B"/>
                </a:solidFill>
                <a:latin typeface="Calibri"/>
              </a:defRPr>
            </a:pPr>
            <a:r>
              <a:t>Individual performance variance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156448" y="4599432"/>
            <a:ext cx="3657600" cy="914400"/>
          </a:xfrm>
          <a:prstGeom prst="roundRect">
            <a:avLst/>
          </a:prstGeom>
          <a:solidFill>
            <a:srgbClr val="DBEAFE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l">
              <a:defRPr sz="1200">
                <a:solidFill>
                  <a:srgbClr val="1E293B"/>
                </a:solidFill>
                <a:latin typeface="Calibri"/>
              </a:defRPr>
            </a:pPr>
            <a:r>
              <a:t>Individual coaching, performance management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48640" y="5577840"/>
            <a:ext cx="11247120" cy="914400"/>
          </a:xfrm>
          <a:prstGeom prst="roundRect">
            <a:avLst/>
          </a:prstGeom>
          <a:solidFill>
            <a:srgbClr val="F0F7FF"/>
          </a:solidFill>
          <a:ln w="1270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822960" y="566928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2563EB"/>
                </a:solidFill>
                <a:latin typeface="Calibri"/>
              </a:defRPr>
            </a:pPr>
            <a:r>
              <a:t>Repeat-Gap Detection  (answers: 'Are there repeat gaps across multiple talents?')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22960" y="598932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1E293B"/>
                </a:solidFill>
                <a:latin typeface="Calibri"/>
              </a:defRPr>
            </a:pPr>
            <a:r>
              <a:t>Rank competency cells by count of employees scoring ≤ 1. Top N surfaces the systemic weak spots.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2004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1E293B"/>
                </a:solidFill>
                <a:latin typeface="Calibri"/>
              </a:defRPr>
            </a:pPr>
            <a:r>
              <a:t>Action Recommendation Logic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9144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64748B"/>
                </a:solidFill>
                <a:latin typeface="Calibri"/>
              </a:defRPr>
            </a:pPr>
            <a:r>
              <a:t>Rule-based triage across training / exposure / hiring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234440"/>
            <a:ext cx="640080" cy="45720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365760" y="1600200"/>
            <a:ext cx="3749039" cy="4846320"/>
          </a:xfrm>
          <a:prstGeom prst="roundRect">
            <a:avLst/>
          </a:prstGeom>
          <a:solidFill>
            <a:srgbClr val="DBEAFE"/>
          </a:solidFill>
          <a:ln w="1270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48640" y="1737360"/>
            <a:ext cx="3383279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1E293B"/>
                </a:solidFill>
                <a:latin typeface="Calibri"/>
              </a:defRPr>
            </a:pPr>
            <a:r>
              <a:t>TRAINING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2331720"/>
            <a:ext cx="3291839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200">
                <a:solidFill>
                  <a:srgbClr val="1E293B"/>
                </a:solidFill>
                <a:latin typeface="Calibri"/>
              </a:defRPr>
            </a:pPr>
            <a:r>
              <a:t>Triggered when:</a:t>
            </a:r>
          </a:p>
          <a:p>
            <a:pPr>
              <a:spcAft>
                <a:spcPts val="600"/>
              </a:spcAft>
              <a:defRPr sz="1200">
                <a:solidFill>
                  <a:srgbClr val="1E293B"/>
                </a:solidFill>
                <a:latin typeface="Calibri"/>
              </a:defRPr>
            </a:pPr>
            <a:r>
              <a:t>• Gap is STRUCTURAL (≥60% fail rate)</a:t>
            </a:r>
          </a:p>
          <a:p>
            <a:pPr>
              <a:spcAft>
                <a:spcPts val="600"/>
              </a:spcAft>
              <a:defRPr sz="1200">
                <a:solidFill>
                  <a:srgbClr val="1E293B"/>
                </a:solidFill>
                <a:latin typeface="Calibri"/>
              </a:defRPr>
            </a:pPr>
            <a:r>
              <a:t>• Weakness in Base (B) or Key (K) cells</a:t>
            </a:r>
          </a:p>
          <a:p>
            <a:pPr>
              <a:spcAft>
                <a:spcPts val="600"/>
              </a:spcAft>
              <a:defRPr sz="1200">
                <a:solidFill>
                  <a:srgbClr val="1E293B"/>
                </a:solidFill>
                <a:latin typeface="Calibri"/>
              </a:defRPr>
            </a:pPr>
            <a:r>
              <a:t>• Gap closable at level 2 → 3</a:t>
            </a:r>
          </a:p>
          <a:p>
            <a:pPr>
              <a:spcAft>
                <a:spcPts val="600"/>
              </a:spcAft>
              <a:defRPr sz="1200">
                <a:solidFill>
                  <a:srgbClr val="1E293B"/>
                </a:solidFill>
                <a:latin typeface="Calibri"/>
              </a:defRPr>
            </a:pPr>
            <a:endParaRPr/>
          </a:p>
          <a:p>
            <a:pPr>
              <a:spcAft>
                <a:spcPts val="600"/>
              </a:spcAft>
              <a:defRPr sz="1200">
                <a:solidFill>
                  <a:srgbClr val="1E293B"/>
                </a:solidFill>
                <a:latin typeface="Calibri"/>
              </a:defRPr>
            </a:pPr>
            <a:r>
              <a:t>Horizon: 3–6 months</a:t>
            </a:r>
          </a:p>
          <a:p>
            <a:pPr>
              <a:spcAft>
                <a:spcPts val="600"/>
              </a:spcAft>
              <a:defRPr sz="1200">
                <a:solidFill>
                  <a:srgbClr val="1E293B"/>
                </a:solidFill>
                <a:latin typeface="Calibri"/>
              </a:defRPr>
            </a:pPr>
            <a:r>
              <a:t>Cost: Moderate (scale helps)</a:t>
            </a:r>
          </a:p>
          <a:p>
            <a:pPr>
              <a:spcAft>
                <a:spcPts val="600"/>
              </a:spcAft>
              <a:defRPr sz="1200">
                <a:solidFill>
                  <a:srgbClr val="1E293B"/>
                </a:solidFill>
                <a:latin typeface="Calibri"/>
              </a:defRPr>
            </a:pPr>
            <a:r>
              <a:t>Impact: High if structural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206239" y="1600200"/>
            <a:ext cx="3749039" cy="4846320"/>
          </a:xfrm>
          <a:prstGeom prst="roundRect">
            <a:avLst/>
          </a:prstGeom>
          <a:solidFill>
            <a:srgbClr val="FEF9C3"/>
          </a:solidFill>
          <a:ln w="12700">
            <a:solidFill>
              <a:srgbClr val="CA8A0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4389119" y="1737360"/>
            <a:ext cx="3383279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1E293B"/>
                </a:solidFill>
                <a:latin typeface="Calibri"/>
              </a:defRPr>
            </a:pPr>
            <a:r>
              <a:t>EXPOSURE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434839" y="2331720"/>
            <a:ext cx="3291839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200">
                <a:solidFill>
                  <a:srgbClr val="1E293B"/>
                </a:solidFill>
                <a:latin typeface="Calibri"/>
              </a:defRPr>
            </a:pPr>
            <a:r>
              <a:t>Triggered when:</a:t>
            </a:r>
          </a:p>
          <a:p>
            <a:pPr>
              <a:spcAft>
                <a:spcPts val="600"/>
              </a:spcAft>
              <a:defRPr sz="1200">
                <a:solidFill>
                  <a:srgbClr val="1E293B"/>
                </a:solidFill>
                <a:latin typeface="Calibri"/>
              </a:defRPr>
            </a:pPr>
            <a:r>
              <a:t>• Gap in Pacing (P) or Emerging (E) cells</a:t>
            </a:r>
          </a:p>
          <a:p>
            <a:pPr>
              <a:spcAft>
                <a:spcPts val="600"/>
              </a:spcAft>
              <a:defRPr sz="1200">
                <a:solidFill>
                  <a:srgbClr val="1E293B"/>
                </a:solidFill>
                <a:latin typeface="Calibri"/>
              </a:defRPr>
            </a:pPr>
            <a:r>
              <a:t>• Competency at level 2 needing level 3</a:t>
            </a:r>
          </a:p>
          <a:p>
            <a:pPr>
              <a:spcAft>
                <a:spcPts val="600"/>
              </a:spcAft>
              <a:defRPr sz="1200">
                <a:solidFill>
                  <a:srgbClr val="1E293B"/>
                </a:solidFill>
                <a:latin typeface="Calibri"/>
              </a:defRPr>
            </a:pPr>
            <a:r>
              <a:t>• Individual issue, not structural</a:t>
            </a:r>
          </a:p>
          <a:p>
            <a:pPr>
              <a:spcAft>
                <a:spcPts val="600"/>
              </a:spcAft>
              <a:defRPr sz="1200">
                <a:solidFill>
                  <a:srgbClr val="1E293B"/>
                </a:solidFill>
                <a:latin typeface="Calibri"/>
              </a:defRPr>
            </a:pPr>
            <a:endParaRPr/>
          </a:p>
          <a:p>
            <a:pPr>
              <a:spcAft>
                <a:spcPts val="600"/>
              </a:spcAft>
              <a:defRPr sz="1200">
                <a:solidFill>
                  <a:srgbClr val="1E293B"/>
                </a:solidFill>
                <a:latin typeface="Calibri"/>
              </a:defRPr>
            </a:pPr>
            <a:r>
              <a:t>Horizon: 6–12 months</a:t>
            </a:r>
          </a:p>
          <a:p>
            <a:pPr>
              <a:spcAft>
                <a:spcPts val="600"/>
              </a:spcAft>
              <a:defRPr sz="1200">
                <a:solidFill>
                  <a:srgbClr val="1E293B"/>
                </a:solidFill>
                <a:latin typeface="Calibri"/>
              </a:defRPr>
            </a:pPr>
            <a:r>
              <a:t>Cost: Low (stretch assignments)</a:t>
            </a:r>
          </a:p>
          <a:p>
            <a:pPr>
              <a:spcAft>
                <a:spcPts val="600"/>
              </a:spcAft>
              <a:defRPr sz="1200">
                <a:solidFill>
                  <a:srgbClr val="1E293B"/>
                </a:solidFill>
                <a:latin typeface="Calibri"/>
              </a:defRPr>
            </a:pPr>
            <a:r>
              <a:t>Impact: High for promotable talent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046718" y="1600200"/>
            <a:ext cx="3749039" cy="4846320"/>
          </a:xfrm>
          <a:prstGeom prst="roundRect">
            <a:avLst/>
          </a:prstGeom>
          <a:solidFill>
            <a:srgbClr val="FEE2E2"/>
          </a:solidFill>
          <a:ln w="12700">
            <a:solidFill>
              <a:srgbClr val="DC26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8229598" y="1737360"/>
            <a:ext cx="3383279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1E293B"/>
                </a:solidFill>
                <a:latin typeface="Calibri"/>
              </a:defRPr>
            </a:pPr>
            <a:r>
              <a:t>HIRING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75318" y="2331720"/>
            <a:ext cx="3291839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200">
                <a:solidFill>
                  <a:srgbClr val="1E293B"/>
                </a:solidFill>
                <a:latin typeface="Calibri"/>
              </a:defRPr>
            </a:pPr>
            <a:r>
              <a:t>Triggered when:</a:t>
            </a:r>
          </a:p>
          <a:p>
            <a:pPr>
              <a:spcAft>
                <a:spcPts val="600"/>
              </a:spcAft>
              <a:defRPr sz="1200">
                <a:solidFill>
                  <a:srgbClr val="1E293B"/>
                </a:solidFill>
                <a:latin typeface="Calibri"/>
              </a:defRPr>
            </a:pPr>
            <a:r>
              <a:t>• Grade distribution skewed</a:t>
            </a:r>
          </a:p>
          <a:p>
            <a:pPr>
              <a:spcAft>
                <a:spcPts val="600"/>
              </a:spcAft>
              <a:defRPr sz="1200">
                <a:solidFill>
                  <a:srgbClr val="1E293B"/>
                </a:solidFill>
                <a:latin typeface="Calibri"/>
              </a:defRPr>
            </a:pPr>
            <a:r>
              <a:t>   (too few Principals for team)</a:t>
            </a:r>
          </a:p>
          <a:p>
            <a:pPr>
              <a:spcAft>
                <a:spcPts val="600"/>
              </a:spcAft>
              <a:defRPr sz="1200">
                <a:solidFill>
                  <a:srgbClr val="1E293B"/>
                </a:solidFill>
                <a:latin typeface="Calibri"/>
              </a:defRPr>
            </a:pPr>
            <a:r>
              <a:t>• Gap cells at level 0 across team</a:t>
            </a:r>
          </a:p>
          <a:p>
            <a:pPr>
              <a:spcAft>
                <a:spcPts val="600"/>
              </a:spcAft>
              <a:defRPr sz="1200">
                <a:solidFill>
                  <a:srgbClr val="1E293B"/>
                </a:solidFill>
                <a:latin typeface="Calibri"/>
              </a:defRPr>
            </a:pPr>
            <a:r>
              <a:t>   (no internal exposure at all)</a:t>
            </a:r>
          </a:p>
          <a:p>
            <a:pPr>
              <a:spcAft>
                <a:spcPts val="600"/>
              </a:spcAft>
              <a:defRPr sz="1200">
                <a:solidFill>
                  <a:srgbClr val="1E293B"/>
                </a:solidFill>
                <a:latin typeface="Calibri"/>
              </a:defRPr>
            </a:pPr>
            <a:r>
              <a:t>• Critical role unfilled</a:t>
            </a:r>
          </a:p>
          <a:p>
            <a:pPr>
              <a:spcAft>
                <a:spcPts val="600"/>
              </a:spcAft>
              <a:defRPr sz="1200">
                <a:solidFill>
                  <a:srgbClr val="1E293B"/>
                </a:solidFill>
                <a:latin typeface="Calibri"/>
              </a:defRPr>
            </a:pPr>
            <a:endParaRPr/>
          </a:p>
          <a:p>
            <a:pPr>
              <a:spcAft>
                <a:spcPts val="600"/>
              </a:spcAft>
              <a:defRPr sz="1200">
                <a:solidFill>
                  <a:srgbClr val="1E293B"/>
                </a:solidFill>
                <a:latin typeface="Calibri"/>
              </a:defRPr>
            </a:pPr>
            <a:r>
              <a:t>Horizon: 12+ months</a:t>
            </a:r>
          </a:p>
          <a:p>
            <a:pPr>
              <a:spcAft>
                <a:spcPts val="600"/>
              </a:spcAft>
              <a:defRPr sz="1200">
                <a:solidFill>
                  <a:srgbClr val="1E293B"/>
                </a:solidFill>
                <a:latin typeface="Calibri"/>
              </a:defRPr>
            </a:pPr>
            <a:r>
              <a:t>Cost: High</a:t>
            </a:r>
          </a:p>
          <a:p>
            <a:pPr>
              <a:spcAft>
                <a:spcPts val="600"/>
              </a:spcAft>
              <a:defRPr sz="1200">
                <a:solidFill>
                  <a:srgbClr val="1E293B"/>
                </a:solidFill>
                <a:latin typeface="Calibri"/>
              </a:defRPr>
            </a:pPr>
            <a:r>
              <a:t>Impact: Fills structural vacancies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2004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1E293B"/>
                </a:solidFill>
                <a:latin typeface="Calibri"/>
              </a:defRPr>
            </a:pPr>
            <a:r>
              <a:t>Promotability Logic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9144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64748B"/>
                </a:solidFill>
                <a:latin typeface="Calibri"/>
              </a:defRPr>
            </a:pPr>
            <a:r>
              <a:t>Answers: 'Who is promotable?' · 'What gaps before promotion?'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234440"/>
            <a:ext cx="640080" cy="45720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548640" y="1600200"/>
            <a:ext cx="5486400" cy="4754880"/>
          </a:xfrm>
          <a:prstGeom prst="roundRect">
            <a:avLst/>
          </a:prstGeom>
          <a:solidFill>
            <a:srgbClr val="D1FAE5"/>
          </a:solidFill>
          <a:ln w="12700">
            <a:solidFill>
              <a:srgbClr val="0596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22960" y="1737360"/>
            <a:ext cx="4937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059669"/>
                </a:solidFill>
                <a:latin typeface="Calibri"/>
              </a:defRPr>
            </a:pPr>
            <a:r>
              <a:t>Promotion-Ready (ALL conditions)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2240280"/>
            <a:ext cx="493776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300">
                <a:solidFill>
                  <a:srgbClr val="1E293B"/>
                </a:solidFill>
                <a:latin typeface="Calibri"/>
              </a:defRPr>
            </a:pPr>
            <a:r>
              <a:t>✓  Combined Competency Score ≥ 0.75</a:t>
            </a:r>
          </a:p>
          <a:p>
            <a:pPr>
              <a:spcAft>
                <a:spcPts val="600"/>
              </a:spcAft>
              <a:defRPr sz="1300">
                <a:solidFill>
                  <a:srgbClr val="1E293B"/>
                </a:solidFill>
                <a:latin typeface="Calibri"/>
              </a:defRPr>
            </a:pPr>
            <a:endParaRPr/>
          </a:p>
          <a:p>
            <a:pPr>
              <a:spcAft>
                <a:spcPts val="600"/>
              </a:spcAft>
              <a:defRPr sz="1300">
                <a:solidFill>
                  <a:srgbClr val="1E293B"/>
                </a:solidFill>
                <a:latin typeface="Calibri"/>
              </a:defRPr>
            </a:pPr>
            <a:r>
              <a:t>✓  year_in_sg ≥ grade_tenure_threshold</a:t>
            </a:r>
          </a:p>
          <a:p>
            <a:pPr>
              <a:spcAft>
                <a:spcPts val="600"/>
              </a:spcAft>
              <a:defRPr sz="1300">
                <a:solidFill>
                  <a:srgbClr val="1E293B"/>
                </a:solidFill>
                <a:latin typeface="Calibri"/>
              </a:defRPr>
            </a:pPr>
            <a:r>
              <a:t>    (P1–P3 → 3y, P4–P6 → 4y, P7+ → 5y)</a:t>
            </a:r>
          </a:p>
          <a:p>
            <a:pPr>
              <a:spcAft>
                <a:spcPts val="600"/>
              </a:spcAft>
              <a:defRPr sz="1300">
                <a:solidFill>
                  <a:srgbClr val="1E293B"/>
                </a:solidFill>
                <a:latin typeface="Calibri"/>
              </a:defRPr>
            </a:pPr>
            <a:endParaRPr/>
          </a:p>
          <a:p>
            <a:pPr>
              <a:spcAft>
                <a:spcPts val="600"/>
              </a:spcAft>
              <a:defRPr sz="1300">
                <a:solidFill>
                  <a:srgbClr val="1E293B"/>
                </a:solidFill>
                <a:latin typeface="Calibri"/>
              </a:defRPr>
            </a:pPr>
            <a:r>
              <a:t>✓  passed_tpcp = 'Y'</a:t>
            </a:r>
          </a:p>
          <a:p>
            <a:pPr>
              <a:spcAft>
                <a:spcPts val="600"/>
              </a:spcAft>
              <a:defRPr sz="1300">
                <a:solidFill>
                  <a:srgbClr val="1E293B"/>
                </a:solidFill>
                <a:latin typeface="Calibri"/>
              </a:defRPr>
            </a:pPr>
            <a:r>
              <a:t>    (or no TPCP gate at current grade)</a:t>
            </a:r>
          </a:p>
          <a:p>
            <a:pPr>
              <a:spcAft>
                <a:spcPts val="600"/>
              </a:spcAft>
              <a:defRPr sz="1300">
                <a:solidFill>
                  <a:srgbClr val="1E293B"/>
                </a:solidFill>
                <a:latin typeface="Calibri"/>
              </a:defRPr>
            </a:pPr>
            <a:endParaRPr/>
          </a:p>
          <a:p>
            <a:pPr>
              <a:spcAft>
                <a:spcPts val="600"/>
              </a:spcAft>
              <a:defRPr sz="1300">
                <a:solidFill>
                  <a:srgbClr val="1E293B"/>
                </a:solidFill>
                <a:latin typeface="Calibri"/>
              </a:defRPr>
            </a:pPr>
            <a:r>
              <a:t>✓  Critical Gap Count ≤ 3</a:t>
            </a:r>
          </a:p>
          <a:p>
            <a:pPr>
              <a:spcAft>
                <a:spcPts val="600"/>
              </a:spcAft>
              <a:defRPr sz="1300">
                <a:solidFill>
                  <a:srgbClr val="1E293B"/>
                </a:solidFill>
                <a:latin typeface="Calibri"/>
              </a:defRPr>
            </a:pPr>
            <a:r>
              <a:t>    (no more than 3 cells at level 0–1)</a:t>
            </a:r>
          </a:p>
          <a:p>
            <a:pPr>
              <a:spcAft>
                <a:spcPts val="600"/>
              </a:spcAft>
              <a:defRPr sz="1300">
                <a:solidFill>
                  <a:srgbClr val="1E293B"/>
                </a:solidFill>
                <a:latin typeface="Calibri"/>
              </a:defRPr>
            </a:pPr>
            <a:endParaRPr/>
          </a:p>
          <a:p>
            <a:pPr>
              <a:spcAft>
                <a:spcPts val="600"/>
              </a:spcAft>
              <a:defRPr sz="1300">
                <a:solidFill>
                  <a:srgbClr val="1E293B"/>
                </a:solidFill>
                <a:latin typeface="Calibri"/>
              </a:defRPr>
            </a:pPr>
            <a:r>
              <a:t>✓  Grade Fit = 1.0 or 0.5</a:t>
            </a:r>
          </a:p>
          <a:p>
            <a:pPr>
              <a:spcAft>
                <a:spcPts val="600"/>
              </a:spcAft>
              <a:defRPr sz="1300">
                <a:solidFill>
                  <a:srgbClr val="1E293B"/>
                </a:solidFill>
                <a:latin typeface="Calibri"/>
              </a:defRPr>
            </a:pPr>
            <a:r>
              <a:t>    (not underqualified)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309360" y="1600200"/>
            <a:ext cx="5486400" cy="4754880"/>
          </a:xfrm>
          <a:prstGeom prst="roundRect">
            <a:avLst/>
          </a:prstGeom>
          <a:solidFill>
            <a:srgbClr val="F0F7FF"/>
          </a:solidFill>
          <a:ln w="1270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583680" y="1737360"/>
            <a:ext cx="4937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2563EB"/>
                </a:solidFill>
                <a:latin typeface="Calibri"/>
              </a:defRPr>
            </a:pPr>
            <a:r>
              <a:t>Gaps Before Promotion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0" y="2240280"/>
            <a:ext cx="493776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300">
                <a:solidFill>
                  <a:srgbClr val="1E293B"/>
                </a:solidFill>
                <a:latin typeface="Calibri"/>
              </a:defRPr>
            </a:pPr>
            <a:r>
              <a:t>For employees scoring 0.65–0.74 (close to ready):</a:t>
            </a:r>
          </a:p>
          <a:p>
            <a:pPr>
              <a:spcAft>
                <a:spcPts val="600"/>
              </a:spcAft>
              <a:defRPr sz="1300">
                <a:solidFill>
                  <a:srgbClr val="1E293B"/>
                </a:solidFill>
                <a:latin typeface="Calibri"/>
              </a:defRPr>
            </a:pPr>
            <a:endParaRPr/>
          </a:p>
          <a:p>
            <a:pPr>
              <a:spcAft>
                <a:spcPts val="600"/>
              </a:spcAft>
              <a:defRPr sz="1300">
                <a:solidFill>
                  <a:srgbClr val="1E293B"/>
                </a:solidFill>
                <a:latin typeface="Calibri"/>
              </a:defRPr>
            </a:pPr>
            <a:r>
              <a:t>• List competency cells at level 0 or 1</a:t>
            </a:r>
          </a:p>
          <a:p>
            <a:pPr>
              <a:spcAft>
                <a:spcPts val="600"/>
              </a:spcAft>
              <a:defRPr sz="1300">
                <a:solidFill>
                  <a:srgbClr val="1E293B"/>
                </a:solidFill>
                <a:latin typeface="Calibri"/>
              </a:defRPr>
            </a:pPr>
            <a:r>
              <a:t>• Flag any Key-level (K1–K15) gap as blocker</a:t>
            </a:r>
          </a:p>
          <a:p>
            <a:pPr>
              <a:spcAft>
                <a:spcPts val="600"/>
              </a:spcAft>
              <a:defRPr sz="1300">
                <a:solidFill>
                  <a:srgbClr val="1E293B"/>
                </a:solidFill>
                <a:latin typeface="Calibri"/>
              </a:defRPr>
            </a:pPr>
            <a:r>
              <a:t>• Flag passed_tpcp = 'N' as blocker</a:t>
            </a:r>
          </a:p>
          <a:p>
            <a:pPr>
              <a:spcAft>
                <a:spcPts val="600"/>
              </a:spcAft>
              <a:defRPr sz="1300">
                <a:solidFill>
                  <a:srgbClr val="1E293B"/>
                </a:solidFill>
                <a:latin typeface="Calibri"/>
              </a:defRPr>
            </a:pPr>
            <a:r>
              <a:t>• Show year_in_sg vs threshold delta</a:t>
            </a:r>
          </a:p>
          <a:p>
            <a:pPr>
              <a:spcAft>
                <a:spcPts val="600"/>
              </a:spcAft>
              <a:defRPr sz="1300">
                <a:solidFill>
                  <a:srgbClr val="1E293B"/>
                </a:solidFill>
                <a:latin typeface="Calibri"/>
              </a:defRPr>
            </a:pPr>
            <a:endParaRPr/>
          </a:p>
          <a:p>
            <a:pPr>
              <a:spcAft>
                <a:spcPts val="600"/>
              </a:spcAft>
              <a:defRPr sz="1300">
                <a:solidFill>
                  <a:srgbClr val="1E293B"/>
                </a:solidFill>
                <a:latin typeface="Calibri"/>
              </a:defRPr>
            </a:pPr>
            <a:r>
              <a:t>Output includes 'close-in-6-months' flag</a:t>
            </a:r>
          </a:p>
          <a:p>
            <a:pPr>
              <a:spcAft>
                <a:spcPts val="600"/>
              </a:spcAft>
              <a:defRPr sz="1300">
                <a:solidFill>
                  <a:srgbClr val="1E293B"/>
                </a:solidFill>
                <a:latin typeface="Calibri"/>
              </a:defRPr>
            </a:pPr>
            <a:r>
              <a:t>for gaps at level 2 (one step away).</a:t>
            </a:r>
          </a:p>
          <a:p>
            <a:pPr>
              <a:spcAft>
                <a:spcPts val="600"/>
              </a:spcAft>
              <a:defRPr sz="1300">
                <a:solidFill>
                  <a:srgbClr val="1E293B"/>
                </a:solidFill>
                <a:latin typeface="Calibri"/>
              </a:defRPr>
            </a:pPr>
            <a:endParaRPr/>
          </a:p>
          <a:p>
            <a:pPr>
              <a:spcAft>
                <a:spcPts val="600"/>
              </a:spcAft>
              <a:defRPr sz="1300">
                <a:solidFill>
                  <a:srgbClr val="1E293B"/>
                </a:solidFill>
                <a:latin typeface="Calibri"/>
              </a:defRPr>
            </a:pPr>
            <a:r>
              <a:t>For employees at 0.55–0.64 (develop further):</a:t>
            </a:r>
          </a:p>
          <a:p>
            <a:pPr>
              <a:spcAft>
                <a:spcPts val="600"/>
              </a:spcAft>
              <a:defRPr sz="1300">
                <a:solidFill>
                  <a:srgbClr val="1E293B"/>
                </a:solidFill>
                <a:latin typeface="Calibri"/>
              </a:defRPr>
            </a:pPr>
            <a:r>
              <a:t>• Return full gap profile, 12+ month plan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2004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1E293B"/>
                </a:solidFill>
                <a:latin typeface="Calibri"/>
              </a:defRPr>
            </a:pPr>
            <a:r>
              <a:t>New API Surface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48640" y="1234440"/>
            <a:ext cx="640080" cy="45720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365760" y="1600200"/>
            <a:ext cx="4389120" cy="457200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  <a:latin typeface="Calibri"/>
              </a:defRPr>
            </a:pPr>
            <a:r>
              <a:t>Endpoint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791456" y="1600200"/>
            <a:ext cx="7040880" cy="457200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  <a:latin typeface="Calibri"/>
              </a:defRPr>
            </a:pPr>
            <a:r>
              <a:t>Purpose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65760" y="2103120"/>
            <a:ext cx="4389120" cy="594360"/>
          </a:xfrm>
          <a:prstGeom prst="roundRect">
            <a:avLst/>
          </a:prstGeom>
          <a:solidFill>
            <a:srgbClr val="DBEAFE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l">
              <a:defRPr sz="1200">
                <a:solidFill>
                  <a:srgbClr val="1E293B"/>
                </a:solidFill>
                <a:latin typeface="Calibri"/>
              </a:defRPr>
            </a:pPr>
            <a:r>
              <a:t>POST /team/analyze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791456" y="2103120"/>
            <a:ext cx="7040880" cy="594360"/>
          </a:xfrm>
          <a:prstGeom prst="roundRect">
            <a:avLst/>
          </a:prstGeom>
          <a:solidFill>
            <a:srgbClr val="DBEAFE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l">
              <a:defRPr sz="1200">
                <a:solidFill>
                  <a:srgbClr val="1E293B"/>
                </a:solidFill>
                <a:latin typeface="Calibri"/>
              </a:defRPr>
            </a:pPr>
            <a:r>
              <a:t>Full diagnostic for a team: snapshot + individuals + gaps + actions. Body: {business, opu, division, question?}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65760" y="2734056"/>
            <a:ext cx="4389120" cy="5943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l">
              <a:defRPr sz="1200">
                <a:solidFill>
                  <a:srgbClr val="1E293B"/>
                </a:solidFill>
                <a:latin typeface="Calibri"/>
              </a:defRPr>
            </a:pPr>
            <a:r>
              <a:t>GET  /employee/{dummy_id}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791456" y="2734056"/>
            <a:ext cx="7040880" cy="5943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l">
              <a:defRPr sz="1200">
                <a:solidFill>
                  <a:srgbClr val="1E293B"/>
                </a:solidFill>
                <a:latin typeface="Calibri"/>
              </a:defRPr>
            </a:pPr>
            <a:r>
              <a:t>Individual scorecard: 6 health scores, gap profile, promotion readiness flags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65760" y="3364992"/>
            <a:ext cx="4389120" cy="594360"/>
          </a:xfrm>
          <a:prstGeom prst="roundRect">
            <a:avLst/>
          </a:prstGeom>
          <a:solidFill>
            <a:srgbClr val="DBEAFE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l">
              <a:defRPr sz="1200">
                <a:solidFill>
                  <a:srgbClr val="1E293B"/>
                </a:solidFill>
                <a:latin typeface="Calibri"/>
              </a:defRPr>
            </a:pPr>
            <a:r>
              <a:t>GET  /team/{business}/{opu}/{division}/promotable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791456" y="3364992"/>
            <a:ext cx="7040880" cy="594360"/>
          </a:xfrm>
          <a:prstGeom prst="roundRect">
            <a:avLst/>
          </a:prstGeom>
          <a:solidFill>
            <a:srgbClr val="DBEAFE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l">
              <a:defRPr sz="1200">
                <a:solidFill>
                  <a:srgbClr val="1E293B"/>
                </a:solidFill>
                <a:latin typeface="Calibri"/>
              </a:defRPr>
            </a:pPr>
            <a:r>
              <a:t>Ranked list of promotion-ready employees with rationale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65760" y="3995928"/>
            <a:ext cx="4389120" cy="5943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l">
              <a:defRPr sz="1200">
                <a:solidFill>
                  <a:srgbClr val="1E293B"/>
                </a:solidFill>
                <a:latin typeface="Calibri"/>
              </a:defRPr>
            </a:pPr>
            <a:r>
              <a:t>GET  /team/{business}/{opu}/{division}/gaps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791456" y="3995928"/>
            <a:ext cx="7040880" cy="5943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l">
              <a:defRPr sz="1200">
                <a:solidFill>
                  <a:srgbClr val="1E293B"/>
                </a:solidFill>
                <a:latin typeface="Calibri"/>
              </a:defRPr>
            </a:pPr>
            <a:r>
              <a:t>Competency gap matrix + people-vs-structural classification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65760" y="4626864"/>
            <a:ext cx="4389120" cy="594360"/>
          </a:xfrm>
          <a:prstGeom prst="roundRect">
            <a:avLst/>
          </a:prstGeom>
          <a:solidFill>
            <a:srgbClr val="DBEAFE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l">
              <a:defRPr sz="1200">
                <a:solidFill>
                  <a:srgbClr val="1E293B"/>
                </a:solidFill>
                <a:latin typeface="Calibri"/>
              </a:defRPr>
            </a:pPr>
            <a:r>
              <a:t>GET  /team/{business}/{opu}/{division}/snapshot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791456" y="4626864"/>
            <a:ext cx="7040880" cy="594360"/>
          </a:xfrm>
          <a:prstGeom prst="roundRect">
            <a:avLst/>
          </a:prstGeom>
          <a:solidFill>
            <a:srgbClr val="DBEAFE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l">
              <a:defRPr sz="1200">
                <a:solidFill>
                  <a:srgbClr val="1E293B"/>
                </a:solidFill>
                <a:latin typeface="Calibri"/>
              </a:defRPr>
            </a:pPr>
            <a:r>
              <a:t>Team aggregate: pass rate, level distribution, avg CBS/TPCP, not-assessed count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65760" y="5257800"/>
            <a:ext cx="4389120" cy="5943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l">
              <a:defRPr sz="1200">
                <a:solidFill>
                  <a:srgbClr val="1E293B"/>
                </a:solidFill>
                <a:latin typeface="Calibri"/>
              </a:defRPr>
            </a:pPr>
            <a:r>
              <a:t>POST /chat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791456" y="5257800"/>
            <a:ext cx="7040880" cy="5943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l">
              <a:defRPr sz="1200">
                <a:solidFill>
                  <a:srgbClr val="1E293B"/>
                </a:solidFill>
                <a:latin typeface="Calibri"/>
              </a:defRPr>
            </a:pPr>
            <a:r>
              <a:t>Natural language entry point — parses team + question type and routes to the right endpoint above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365760" y="5888736"/>
            <a:ext cx="4389120" cy="594360"/>
          </a:xfrm>
          <a:prstGeom prst="roundRect">
            <a:avLst/>
          </a:prstGeom>
          <a:solidFill>
            <a:srgbClr val="DBEAFE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l">
              <a:defRPr sz="1200">
                <a:solidFill>
                  <a:srgbClr val="1E293B"/>
                </a:solidFill>
                <a:latin typeface="Calibri"/>
              </a:defRPr>
            </a:pPr>
            <a:r>
              <a:t>GET  /health  ·  /docs  ·  /history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791456" y="5888736"/>
            <a:ext cx="7040880" cy="594360"/>
          </a:xfrm>
          <a:prstGeom prst="roundRect">
            <a:avLst/>
          </a:prstGeom>
          <a:solidFill>
            <a:srgbClr val="DBEAFE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l">
              <a:defRPr sz="1200">
                <a:solidFill>
                  <a:srgbClr val="1E293B"/>
                </a:solidFill>
                <a:latin typeface="Calibri"/>
              </a:defRPr>
            </a:pPr>
            <a:r>
              <a:t>Retained from v1 (liveness, Swagger UI, audit trail)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2004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1E293B"/>
                </a:solidFill>
                <a:latin typeface="Calibri"/>
              </a:defRPr>
            </a:pPr>
            <a:r>
              <a:t>Module Structure &amp; Implementation Order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48640" y="1234440"/>
            <a:ext cx="640080" cy="45720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548640" y="1600200"/>
            <a:ext cx="5669280" cy="4846320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822960" y="1737360"/>
            <a:ext cx="5120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1E293B"/>
                </a:solidFill>
                <a:latin typeface="Calibri"/>
              </a:defRPr>
            </a:pPr>
            <a:r>
              <a:t>app/ layout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2148840"/>
            <a:ext cx="53035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1E293B"/>
                </a:solidFill>
                <a:latin typeface="Consolas"/>
              </a:defRPr>
            </a:pPr>
            <a:r>
              <a:t>app/</a:t>
            </a:r>
            <a:br/>
            <a:r>
              <a:t>├── data_loader.py     # load HRIS + TPCP, left-join</a:t>
            </a:r>
            <a:br/>
            <a:r>
              <a:t>├── scores.py          # 6 health score functions</a:t>
            </a:r>
            <a:br/>
            <a:r>
              <a:t>├── gap_analysis.py    # cell matrix, people vs structural</a:t>
            </a:r>
            <a:br/>
            <a:r>
              <a:t>├── team_rollup.py     # team-level aggregate metrics</a:t>
            </a:r>
            <a:br/>
            <a:r>
              <a:t>├── insight_engine.py  # action triage rules</a:t>
            </a:r>
            <a:br/>
            <a:r>
              <a:t>├── recommender.py     # orchestrates full pipeline</a:t>
            </a:r>
            <a:br/>
            <a:r>
              <a:t>├── config.py          # thresholds, weights</a:t>
            </a:r>
            <a:br/>
            <a:r>
              <a:t>└── main.py            # new FastAPI endpoints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0" y="1600200"/>
            <a:ext cx="5394960" cy="4846320"/>
          </a:xfrm>
          <a:prstGeom prst="roundRect">
            <a:avLst/>
          </a:prstGeom>
          <a:solidFill>
            <a:srgbClr val="F0F7FF"/>
          </a:solidFill>
          <a:ln w="1270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675120" y="1737360"/>
            <a:ext cx="4846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2563EB"/>
                </a:solidFill>
                <a:latin typeface="Calibri"/>
              </a:defRPr>
            </a:pPr>
            <a:r>
              <a:t>Implementation order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675120" y="2240280"/>
            <a:ext cx="484632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>
                <a:solidFill>
                  <a:srgbClr val="1E293B"/>
                </a:solidFill>
                <a:latin typeface="Calibri"/>
              </a:defRPr>
            </a:pPr>
            <a:r>
              <a:t>1.  data_loader.py  —  join HRIS + TPCP</a:t>
            </a:r>
          </a:p>
          <a:p>
            <a:pPr>
              <a:spcAft>
                <a:spcPts val="600"/>
              </a:spcAft>
              <a:defRPr sz="1400">
                <a:solidFill>
                  <a:srgbClr val="1E293B"/>
                </a:solidFill>
                <a:latin typeface="Calibri"/>
              </a:defRPr>
            </a:pPr>
            <a:r>
              <a:t>2.  scores.py  —  6 health score functions</a:t>
            </a:r>
          </a:p>
          <a:p>
            <a:pPr>
              <a:spcAft>
                <a:spcPts val="600"/>
              </a:spcAft>
              <a:defRPr sz="1400">
                <a:solidFill>
                  <a:srgbClr val="1E293B"/>
                </a:solidFill>
                <a:latin typeface="Calibri"/>
              </a:defRPr>
            </a:pPr>
            <a:r>
              <a:t>3.  team_rollup.py + gap_analysis.py</a:t>
            </a:r>
          </a:p>
          <a:p>
            <a:pPr>
              <a:spcAft>
                <a:spcPts val="600"/>
              </a:spcAft>
              <a:defRPr sz="1400">
                <a:solidFill>
                  <a:srgbClr val="1E293B"/>
                </a:solidFill>
                <a:latin typeface="Calibri"/>
              </a:defRPr>
            </a:pPr>
            <a:r>
              <a:t>4.  insight_engine.py  —  action triage</a:t>
            </a:r>
          </a:p>
          <a:p>
            <a:pPr>
              <a:spcAft>
                <a:spcPts val="600"/>
              </a:spcAft>
              <a:defRPr sz="1400">
                <a:solidFill>
                  <a:srgbClr val="1E293B"/>
                </a:solidFill>
                <a:latin typeface="Calibri"/>
              </a:defRPr>
            </a:pPr>
            <a:r>
              <a:t>5.  recommender.py + config.py  —  orchestrate</a:t>
            </a:r>
          </a:p>
          <a:p>
            <a:pPr>
              <a:spcAft>
                <a:spcPts val="600"/>
              </a:spcAft>
              <a:defRPr sz="1400">
                <a:solidFill>
                  <a:srgbClr val="1E293B"/>
                </a:solidFill>
                <a:latin typeface="Calibri"/>
              </a:defRPr>
            </a:pPr>
            <a:r>
              <a:t>6.  main.py  —  new FastAPI endpoints</a:t>
            </a:r>
          </a:p>
          <a:p>
            <a:pPr>
              <a:spcAft>
                <a:spcPts val="600"/>
              </a:spcAft>
              <a:defRPr sz="1400">
                <a:solidFill>
                  <a:srgbClr val="1E293B"/>
                </a:solidFill>
                <a:latin typeface="Calibri"/>
              </a:defRPr>
            </a:pPr>
            <a:r>
              <a:t>7.  chat parser  —  route NL to endpoints</a:t>
            </a:r>
          </a:p>
          <a:p>
            <a:pPr>
              <a:spcAft>
                <a:spcPts val="600"/>
              </a:spcAft>
              <a:defRPr sz="1400">
                <a:solidFill>
                  <a:srgbClr val="1E293B"/>
                </a:solidFill>
                <a:latin typeface="Calibri"/>
              </a:defRPr>
            </a:pPr>
            <a:r>
              <a:t>8.  frontend  —  dashboard view</a:t>
            </a:r>
          </a:p>
          <a:p>
            <a:pPr>
              <a:spcAft>
                <a:spcPts val="600"/>
              </a:spcAft>
              <a:defRPr sz="1400">
                <a:solidFill>
                  <a:srgbClr val="1E293B"/>
                </a:solidFill>
                <a:latin typeface="Calibri"/>
              </a:defRPr>
            </a:pPr>
            <a:r>
              <a:t>9.  evaluation  —  gap-detection metrics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2004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1E293B"/>
                </a:solidFill>
                <a:latin typeface="Calibri"/>
              </a:defRPr>
            </a:pPr>
            <a:r>
              <a:t>Migration Impact — What Changes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48640" y="1234440"/>
            <a:ext cx="640080" cy="45720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365760" y="1554480"/>
            <a:ext cx="2926080" cy="457200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  <a:latin typeface="Calibri"/>
              </a:defRPr>
            </a:pPr>
            <a:r>
              <a:t>Component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328416" y="1554480"/>
            <a:ext cx="1371600" cy="457200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  <a:latin typeface="Calibri"/>
              </a:defRPr>
            </a:pPr>
            <a:r>
              <a:t>Status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736592" y="1554480"/>
            <a:ext cx="7132320" cy="457200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  <a:latin typeface="Calibri"/>
              </a:defRPr>
            </a:pPr>
            <a:r>
              <a:t>Action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65760" y="2057400"/>
            <a:ext cx="2926080" cy="402336"/>
          </a:xfrm>
          <a:prstGeom prst="roundRect">
            <a:avLst/>
          </a:prstGeom>
          <a:solidFill>
            <a:srgbClr val="DBEAFE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l">
              <a:defRPr sz="1100">
                <a:solidFill>
                  <a:srgbClr val="1E293B"/>
                </a:solidFill>
                <a:latin typeface="Calibri"/>
              </a:defRPr>
            </a:pPr>
            <a:r>
              <a:t>data_loader.py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328416" y="2057400"/>
            <a:ext cx="1371600" cy="402336"/>
          </a:xfrm>
          <a:prstGeom prst="roundRect">
            <a:avLst/>
          </a:prstGeom>
          <a:solidFill>
            <a:srgbClr val="DBEAFE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l">
              <a:defRPr sz="1100">
                <a:solidFill>
                  <a:srgbClr val="1E293B"/>
                </a:solidFill>
                <a:latin typeface="Calibri"/>
              </a:defRPr>
            </a:pPr>
            <a:r>
              <a:t>REWRITE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736592" y="2057400"/>
            <a:ext cx="7132320" cy="402336"/>
          </a:xfrm>
          <a:prstGeom prst="roundRect">
            <a:avLst/>
          </a:prstGeom>
          <a:solidFill>
            <a:srgbClr val="DBEAFE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l">
              <a:defRPr sz="1100">
                <a:solidFill>
                  <a:srgbClr val="1E293B"/>
                </a:solidFill>
                <a:latin typeface="Calibri"/>
              </a:defRPr>
            </a:pPr>
            <a:r>
              <a:t>Load 2 JSON files, left-join on dummy_id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65760" y="2496312"/>
            <a:ext cx="2926080" cy="40233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l">
              <a:defRPr sz="1100">
                <a:solidFill>
                  <a:srgbClr val="1E293B"/>
                </a:solidFill>
                <a:latin typeface="Calibri"/>
              </a:defRPr>
            </a:pPr>
            <a:r>
              <a:t>features.py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328416" y="2496312"/>
            <a:ext cx="1371600" cy="40233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l">
              <a:defRPr sz="1100">
                <a:solidFill>
                  <a:srgbClr val="1E293B"/>
                </a:solidFill>
                <a:latin typeface="Calibri"/>
              </a:defRPr>
            </a:pPr>
            <a:r>
              <a:t>REPLACE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736592" y="2496312"/>
            <a:ext cx="7132320" cy="40233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l">
              <a:defRPr sz="1100">
                <a:solidFill>
                  <a:srgbClr val="1E293B"/>
                </a:solidFill>
                <a:latin typeface="Calibri"/>
              </a:defRPr>
            </a:pPr>
            <a:r>
              <a:t>Becomes scores.py — 6 absolute health functions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65760" y="2935224"/>
            <a:ext cx="2926080" cy="402336"/>
          </a:xfrm>
          <a:prstGeom prst="roundRect">
            <a:avLst/>
          </a:prstGeom>
          <a:solidFill>
            <a:srgbClr val="DBEAFE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l">
              <a:defRPr sz="1100">
                <a:solidFill>
                  <a:srgbClr val="1E293B"/>
                </a:solidFill>
                <a:latin typeface="Calibri"/>
              </a:defRPr>
            </a:pPr>
            <a:r>
              <a:t>recommender.py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328416" y="2935224"/>
            <a:ext cx="1371600" cy="402336"/>
          </a:xfrm>
          <a:prstGeom prst="roundRect">
            <a:avLst/>
          </a:prstGeom>
          <a:solidFill>
            <a:srgbClr val="DBEAFE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l">
              <a:defRPr sz="1100">
                <a:solidFill>
                  <a:srgbClr val="1E293B"/>
                </a:solidFill>
                <a:latin typeface="Calibri"/>
              </a:defRPr>
            </a:pPr>
            <a:r>
              <a:t>REWRITE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736592" y="2935224"/>
            <a:ext cx="7132320" cy="402336"/>
          </a:xfrm>
          <a:prstGeom prst="roundRect">
            <a:avLst/>
          </a:prstGeom>
          <a:solidFill>
            <a:srgbClr val="DBEAFE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l">
              <a:defRPr sz="1100">
                <a:solidFill>
                  <a:srgbClr val="1E293B"/>
                </a:solidFill>
                <a:latin typeface="Calibri"/>
              </a:defRPr>
            </a:pPr>
            <a:r>
              <a:t>New 4-stage pipeline: join → scope → score → insight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65760" y="3374136"/>
            <a:ext cx="2926080" cy="40233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l">
              <a:defRPr sz="1100">
                <a:solidFill>
                  <a:srgbClr val="1E293B"/>
                </a:solidFill>
                <a:latin typeface="Calibri"/>
              </a:defRPr>
            </a:pPr>
            <a:r>
              <a:t>config.py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328416" y="3374136"/>
            <a:ext cx="1371600" cy="40233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l">
              <a:defRPr sz="1100">
                <a:solidFill>
                  <a:srgbClr val="1E293B"/>
                </a:solidFill>
                <a:latin typeface="Calibri"/>
              </a:defRPr>
            </a:pPr>
            <a:r>
              <a:t>REWRITE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736592" y="3374136"/>
            <a:ext cx="7132320" cy="40233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l">
              <a:defRPr sz="1100">
                <a:solidFill>
                  <a:srgbClr val="1E293B"/>
                </a:solidFill>
                <a:latin typeface="Calibri"/>
              </a:defRPr>
            </a:pPr>
            <a:r>
              <a:t>New weights, grade-tenure thresholds, failure-rate cutoffs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365760" y="3813048"/>
            <a:ext cx="2926080" cy="402336"/>
          </a:xfrm>
          <a:prstGeom prst="roundRect">
            <a:avLst/>
          </a:prstGeom>
          <a:solidFill>
            <a:srgbClr val="DBEAFE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l">
              <a:defRPr sz="1100">
                <a:solidFill>
                  <a:srgbClr val="1E293B"/>
                </a:solidFill>
                <a:latin typeface="Calibri"/>
              </a:defRPr>
            </a:pPr>
            <a:r>
              <a:t>main.py (FastAPI)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3328416" y="3813048"/>
            <a:ext cx="1371600" cy="402336"/>
          </a:xfrm>
          <a:prstGeom prst="roundRect">
            <a:avLst/>
          </a:prstGeom>
          <a:solidFill>
            <a:srgbClr val="DBEAFE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l">
              <a:defRPr sz="1100">
                <a:solidFill>
                  <a:srgbClr val="1E293B"/>
                </a:solidFill>
                <a:latin typeface="Calibri"/>
              </a:defRPr>
            </a:pPr>
            <a:r>
              <a:t>REWRITE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736592" y="3813048"/>
            <a:ext cx="7132320" cy="402336"/>
          </a:xfrm>
          <a:prstGeom prst="roundRect">
            <a:avLst/>
          </a:prstGeom>
          <a:solidFill>
            <a:srgbClr val="DBEAFE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l">
              <a:defRPr sz="1100">
                <a:solidFill>
                  <a:srgbClr val="1E293B"/>
                </a:solidFill>
                <a:latin typeface="Calibri"/>
              </a:defRPr>
            </a:pPr>
            <a:r>
              <a:t>/recommend retired, new team-centric endpoints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365760" y="4251960"/>
            <a:ext cx="2926080" cy="40233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l">
              <a:defRPr sz="1100">
                <a:solidFill>
                  <a:srgbClr val="1E293B"/>
                </a:solidFill>
                <a:latin typeface="Calibri"/>
              </a:defRPr>
            </a:pPr>
            <a:r>
              <a:t>history.py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3328416" y="4251960"/>
            <a:ext cx="1371600" cy="40233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l">
              <a:defRPr sz="1100">
                <a:solidFill>
                  <a:srgbClr val="1E293B"/>
                </a:solidFill>
                <a:latin typeface="Calibri"/>
              </a:defRPr>
            </a:pPr>
            <a:r>
              <a:t>KEEP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736592" y="4251960"/>
            <a:ext cx="7132320" cy="40233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l">
              <a:defRPr sz="1100">
                <a:solidFill>
                  <a:srgbClr val="1E293B"/>
                </a:solidFill>
                <a:latin typeface="Calibri"/>
              </a:defRPr>
            </a:pPr>
            <a:r>
              <a:t>Audit trail still relevant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365760" y="4690872"/>
            <a:ext cx="2926080" cy="402336"/>
          </a:xfrm>
          <a:prstGeom prst="roundRect">
            <a:avLst/>
          </a:prstGeom>
          <a:solidFill>
            <a:srgbClr val="DBEAFE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l">
              <a:defRPr sz="1100">
                <a:solidFill>
                  <a:srgbClr val="1E293B"/>
                </a:solidFill>
                <a:latin typeface="Calibri"/>
              </a:defRPr>
            </a:pPr>
            <a:r>
              <a:t>chat/parser.py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3328416" y="4690872"/>
            <a:ext cx="1371600" cy="402336"/>
          </a:xfrm>
          <a:prstGeom prst="roundRect">
            <a:avLst/>
          </a:prstGeom>
          <a:solidFill>
            <a:srgbClr val="DBEAFE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l">
              <a:defRPr sz="1100">
                <a:solidFill>
                  <a:srgbClr val="1E293B"/>
                </a:solidFill>
                <a:latin typeface="Calibri"/>
              </a:defRPr>
            </a:pPr>
            <a:r>
              <a:t>REWRITE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4736592" y="4690872"/>
            <a:ext cx="7132320" cy="402336"/>
          </a:xfrm>
          <a:prstGeom prst="roundRect">
            <a:avLst/>
          </a:prstGeom>
          <a:solidFill>
            <a:srgbClr val="DBEAFE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l">
              <a:defRPr sz="1100">
                <a:solidFill>
                  <a:srgbClr val="1E293B"/>
                </a:solidFill>
                <a:latin typeface="Calibri"/>
              </a:defRPr>
            </a:pPr>
            <a:r>
              <a:t>Parse team scope + question type, not project fields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365760" y="5129784"/>
            <a:ext cx="2926080" cy="40233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l">
              <a:defRPr sz="1100">
                <a:solidFill>
                  <a:srgbClr val="1E293B"/>
                </a:solidFill>
                <a:latin typeface="Calibri"/>
              </a:defRPr>
            </a:pPr>
            <a:r>
              <a:t>chat/orchestrator.py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3328416" y="5129784"/>
            <a:ext cx="1371600" cy="40233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l">
              <a:defRPr sz="1100">
                <a:solidFill>
                  <a:srgbClr val="1E293B"/>
                </a:solidFill>
                <a:latin typeface="Calibri"/>
              </a:defRPr>
            </a:pPr>
            <a:r>
              <a:t>REWRITE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4736592" y="5129784"/>
            <a:ext cx="7132320" cy="40233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l">
              <a:defRPr sz="1100">
                <a:solidFill>
                  <a:srgbClr val="1E293B"/>
                </a:solidFill>
                <a:latin typeface="Calibri"/>
              </a:defRPr>
            </a:pPr>
            <a:r>
              <a:t>Route parsed query to right endpoint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365760" y="5568696"/>
            <a:ext cx="2926080" cy="402336"/>
          </a:xfrm>
          <a:prstGeom prst="roundRect">
            <a:avLst/>
          </a:prstGeom>
          <a:solidFill>
            <a:srgbClr val="DBEAFE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l">
              <a:defRPr sz="1100">
                <a:solidFill>
                  <a:srgbClr val="1E293B"/>
                </a:solidFill>
                <a:latin typeface="Calibri"/>
              </a:defRPr>
            </a:pPr>
            <a:r>
              <a:t>chat/formatter.py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3328416" y="5568696"/>
            <a:ext cx="1371600" cy="402336"/>
          </a:xfrm>
          <a:prstGeom prst="roundRect">
            <a:avLst/>
          </a:prstGeom>
          <a:solidFill>
            <a:srgbClr val="DBEAFE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l">
              <a:defRPr sz="1100">
                <a:solidFill>
                  <a:srgbClr val="1E293B"/>
                </a:solidFill>
                <a:latin typeface="Calibri"/>
              </a:defRPr>
            </a:pPr>
            <a:r>
              <a:t>REWRITE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4736592" y="5568696"/>
            <a:ext cx="7132320" cy="402336"/>
          </a:xfrm>
          <a:prstGeom prst="roundRect">
            <a:avLst/>
          </a:prstGeom>
          <a:solidFill>
            <a:srgbClr val="DBEAFE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l">
              <a:defRPr sz="1100">
                <a:solidFill>
                  <a:srgbClr val="1E293B"/>
                </a:solidFill>
                <a:latin typeface="Calibri"/>
              </a:defRPr>
            </a:pPr>
            <a:r>
              <a:t>Convert JSON → narrative insights (conversation layer)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365760" y="6007608"/>
            <a:ext cx="2926080" cy="40233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l">
              <a:defRPr sz="1100">
                <a:solidFill>
                  <a:srgbClr val="1E293B"/>
                </a:solidFill>
                <a:latin typeface="Calibri"/>
              </a:defRPr>
            </a:pPr>
            <a:r>
              <a:t>evaluation/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3328416" y="6007608"/>
            <a:ext cx="1371600" cy="40233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l">
              <a:defRPr sz="1100">
                <a:solidFill>
                  <a:srgbClr val="1E293B"/>
                </a:solidFill>
                <a:latin typeface="Calibri"/>
              </a:defRPr>
            </a:pPr>
            <a:r>
              <a:t>REWRITE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4736592" y="6007608"/>
            <a:ext cx="7132320" cy="40233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l">
              <a:defRPr sz="1100">
                <a:solidFill>
                  <a:srgbClr val="1E293B"/>
                </a:solidFill>
                <a:latin typeface="Calibri"/>
              </a:defRPr>
            </a:pPr>
            <a:r>
              <a:t>Gap-detection accuracy replaces precision@K as primary metric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365760" y="6446520"/>
            <a:ext cx="2926080" cy="402336"/>
          </a:xfrm>
          <a:prstGeom prst="roundRect">
            <a:avLst/>
          </a:prstGeom>
          <a:solidFill>
            <a:srgbClr val="DBEAFE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l">
              <a:defRPr sz="1100">
                <a:solidFill>
                  <a:srgbClr val="1E293B"/>
                </a:solidFill>
                <a:latin typeface="Calibri"/>
              </a:defRPr>
            </a:pPr>
            <a:r>
              <a:t>frontend/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3328416" y="6446520"/>
            <a:ext cx="1371600" cy="402336"/>
          </a:xfrm>
          <a:prstGeom prst="roundRect">
            <a:avLst/>
          </a:prstGeom>
          <a:solidFill>
            <a:srgbClr val="DBEAFE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l">
              <a:defRPr sz="1100">
                <a:solidFill>
                  <a:srgbClr val="1E293B"/>
                </a:solidFill>
                <a:latin typeface="Calibri"/>
              </a:defRPr>
            </a:pPr>
            <a:r>
              <a:t>REWRITE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4736592" y="6446520"/>
            <a:ext cx="7132320" cy="402336"/>
          </a:xfrm>
          <a:prstGeom prst="roundRect">
            <a:avLst/>
          </a:prstGeom>
          <a:solidFill>
            <a:srgbClr val="DBEAFE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l">
              <a:defRPr sz="1100">
                <a:solidFill>
                  <a:srgbClr val="1E293B"/>
                </a:solidFill>
                <a:latin typeface="Calibri"/>
              </a:defRPr>
            </a:pPr>
            <a:r>
              <a:t>Dashboard replaces form-search (team overview + drill-downs)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2004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1E293B"/>
                </a:solidFill>
                <a:latin typeface="Calibri"/>
              </a:defRPr>
            </a:pPr>
            <a:r>
              <a:t>What Stays the Same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48640" y="1234440"/>
            <a:ext cx="640080" cy="45720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548640" y="1600200"/>
            <a:ext cx="5486400" cy="4846320"/>
          </a:xfrm>
          <a:prstGeom prst="roundRect">
            <a:avLst/>
          </a:prstGeom>
          <a:solidFill>
            <a:srgbClr val="D1FAE5"/>
          </a:solidFill>
          <a:ln w="12700">
            <a:solidFill>
              <a:srgbClr val="0596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822960" y="1783080"/>
            <a:ext cx="49377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300">
                <a:solidFill>
                  <a:srgbClr val="1E293B"/>
                </a:solidFill>
                <a:latin typeface="Calibri"/>
              </a:defRPr>
            </a:pPr>
            <a:r>
              <a:t>• Rule-based heuristic approach</a:t>
            </a:r>
          </a:p>
          <a:p>
            <a:pPr>
              <a:spcAft>
                <a:spcPts val="600"/>
              </a:spcAft>
              <a:defRPr sz="1300">
                <a:solidFill>
                  <a:srgbClr val="1E293B"/>
                </a:solidFill>
                <a:latin typeface="Calibri"/>
              </a:defRPr>
            </a:pPr>
            <a:r>
              <a:t>   (deterministic, no ML training)</a:t>
            </a:r>
          </a:p>
          <a:p>
            <a:pPr>
              <a:spcAft>
                <a:spcPts val="600"/>
              </a:spcAft>
              <a:defRPr sz="1300">
                <a:solidFill>
                  <a:srgbClr val="1E293B"/>
                </a:solidFill>
                <a:latin typeface="Calibri"/>
              </a:defRPr>
            </a:pPr>
            <a:endParaRPr/>
          </a:p>
          <a:p>
            <a:pPr>
              <a:spcAft>
                <a:spcPts val="600"/>
              </a:spcAft>
              <a:defRPr sz="1300">
                <a:solidFill>
                  <a:srgbClr val="1E293B"/>
                </a:solidFill>
                <a:latin typeface="Calibri"/>
              </a:defRPr>
            </a:pPr>
            <a:r>
              <a:t>• Explainable scoring</a:t>
            </a:r>
          </a:p>
          <a:p>
            <a:pPr>
              <a:spcAft>
                <a:spcPts val="600"/>
              </a:spcAft>
              <a:defRPr sz="1300">
                <a:solidFill>
                  <a:srgbClr val="1E293B"/>
                </a:solidFill>
                <a:latin typeface="Calibri"/>
              </a:defRPr>
            </a:pPr>
            <a:r>
              <a:t>   (every number traceable to a formula)</a:t>
            </a:r>
          </a:p>
          <a:p>
            <a:pPr>
              <a:spcAft>
                <a:spcPts val="600"/>
              </a:spcAft>
              <a:defRPr sz="1300">
                <a:solidFill>
                  <a:srgbClr val="1E293B"/>
                </a:solidFill>
                <a:latin typeface="Calibri"/>
              </a:defRPr>
            </a:pPr>
            <a:endParaRPr/>
          </a:p>
          <a:p>
            <a:pPr>
              <a:spcAft>
                <a:spcPts val="600"/>
              </a:spcAft>
              <a:defRPr sz="1300">
                <a:solidFill>
                  <a:srgbClr val="1E293B"/>
                </a:solidFill>
                <a:latin typeface="Calibri"/>
              </a:defRPr>
            </a:pPr>
            <a:r>
              <a:t>• Configurable weights and thresholds</a:t>
            </a:r>
          </a:p>
          <a:p>
            <a:pPr>
              <a:spcAft>
                <a:spcPts val="600"/>
              </a:spcAft>
              <a:defRPr sz="1300">
                <a:solidFill>
                  <a:srgbClr val="1E293B"/>
                </a:solidFill>
                <a:latin typeface="Calibri"/>
              </a:defRPr>
            </a:pPr>
            <a:r>
              <a:t>   (domain experts tune without retraining)</a:t>
            </a:r>
          </a:p>
          <a:p>
            <a:pPr>
              <a:spcAft>
                <a:spcPts val="600"/>
              </a:spcAft>
              <a:defRPr sz="1300">
                <a:solidFill>
                  <a:srgbClr val="1E293B"/>
                </a:solidFill>
                <a:latin typeface="Calibri"/>
              </a:defRPr>
            </a:pPr>
            <a:endParaRPr/>
          </a:p>
          <a:p>
            <a:pPr>
              <a:spcAft>
                <a:spcPts val="600"/>
              </a:spcAft>
              <a:defRPr sz="1300">
                <a:solidFill>
                  <a:srgbClr val="1E293B"/>
                </a:solidFill>
                <a:latin typeface="Calibri"/>
              </a:defRPr>
            </a:pPr>
            <a:r>
              <a:t>• FastAPI backend + CORS-enabled frontend</a:t>
            </a:r>
          </a:p>
          <a:p>
            <a:pPr>
              <a:spcAft>
                <a:spcPts val="600"/>
              </a:spcAft>
              <a:defRPr sz="1300">
                <a:solidFill>
                  <a:srgbClr val="1E293B"/>
                </a:solidFill>
                <a:latin typeface="Calibri"/>
              </a:defRPr>
            </a:pPr>
            <a:endParaRPr/>
          </a:p>
          <a:p>
            <a:pPr>
              <a:spcAft>
                <a:spcPts val="600"/>
              </a:spcAft>
              <a:defRPr sz="1300">
                <a:solidFill>
                  <a:srgbClr val="1E293B"/>
                </a:solidFill>
                <a:latin typeface="Calibri"/>
              </a:defRPr>
            </a:pPr>
            <a:r>
              <a:t>• Auto-generated API docs at /docs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309360" y="1600200"/>
            <a:ext cx="5486400" cy="4846320"/>
          </a:xfrm>
          <a:prstGeom prst="roundRect">
            <a:avLst/>
          </a:prstGeom>
          <a:solidFill>
            <a:srgbClr val="D1FAE5"/>
          </a:solidFill>
          <a:ln w="12700">
            <a:solidFill>
              <a:srgbClr val="0596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583680" y="1783080"/>
            <a:ext cx="49377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300">
                <a:solidFill>
                  <a:srgbClr val="1E293B"/>
                </a:solidFill>
                <a:latin typeface="Calibri"/>
              </a:defRPr>
            </a:pPr>
            <a:r>
              <a:t>• Audit trail of every request/response</a:t>
            </a:r>
          </a:p>
          <a:p>
            <a:pPr>
              <a:spcAft>
                <a:spcPts val="600"/>
              </a:spcAft>
              <a:defRPr sz="1300">
                <a:solidFill>
                  <a:srgbClr val="1E293B"/>
                </a:solidFill>
                <a:latin typeface="Calibri"/>
              </a:defRPr>
            </a:pPr>
            <a:endParaRPr/>
          </a:p>
          <a:p>
            <a:pPr>
              <a:spcAft>
                <a:spcPts val="600"/>
              </a:spcAft>
              <a:defRPr sz="1300">
                <a:solidFill>
                  <a:srgbClr val="1E293B"/>
                </a:solidFill>
                <a:latin typeface="Calibri"/>
              </a:defRPr>
            </a:pPr>
            <a:r>
              <a:t>• Same deployment model</a:t>
            </a:r>
          </a:p>
          <a:p>
            <a:pPr>
              <a:spcAft>
                <a:spcPts val="600"/>
              </a:spcAft>
              <a:defRPr sz="1300">
                <a:solidFill>
                  <a:srgbClr val="1E293B"/>
                </a:solidFill>
                <a:latin typeface="Calibri"/>
              </a:defRPr>
            </a:pPr>
            <a:r>
              <a:t>   (uvicorn + single-file frontend)</a:t>
            </a:r>
          </a:p>
          <a:p>
            <a:pPr>
              <a:spcAft>
                <a:spcPts val="600"/>
              </a:spcAft>
              <a:defRPr sz="1300">
                <a:solidFill>
                  <a:srgbClr val="1E293B"/>
                </a:solidFill>
                <a:latin typeface="Calibri"/>
              </a:defRPr>
            </a:pPr>
            <a:endParaRPr/>
          </a:p>
          <a:p>
            <a:pPr>
              <a:spcAft>
                <a:spcPts val="600"/>
              </a:spcAft>
              <a:defRPr sz="1300">
                <a:solidFill>
                  <a:srgbClr val="1E293B"/>
                </a:solidFill>
                <a:latin typeface="Calibri"/>
              </a:defRPr>
            </a:pPr>
            <a:r>
              <a:t>• Evaluation framework stays</a:t>
            </a:r>
          </a:p>
          <a:p>
            <a:pPr>
              <a:spcAft>
                <a:spcPts val="600"/>
              </a:spcAft>
              <a:defRPr sz="1300">
                <a:solidFill>
                  <a:srgbClr val="1E293B"/>
                </a:solidFill>
                <a:latin typeface="Calibri"/>
              </a:defRPr>
            </a:pPr>
            <a:r>
              <a:t>   (metrics adapted to new engine)</a:t>
            </a:r>
          </a:p>
          <a:p>
            <a:pPr>
              <a:spcAft>
                <a:spcPts val="600"/>
              </a:spcAft>
              <a:defRPr sz="1300">
                <a:solidFill>
                  <a:srgbClr val="1E293B"/>
                </a:solidFill>
                <a:latin typeface="Calibri"/>
              </a:defRPr>
            </a:pPr>
            <a:endParaRPr/>
          </a:p>
          <a:p>
            <a:pPr>
              <a:spcAft>
                <a:spcPts val="600"/>
              </a:spcAft>
              <a:defRPr sz="1300">
                <a:solidFill>
                  <a:srgbClr val="1E293B"/>
                </a:solidFill>
                <a:latin typeface="Calibri"/>
              </a:defRPr>
            </a:pPr>
            <a:r>
              <a:t>• Chat entry point retained</a:t>
            </a:r>
          </a:p>
          <a:p>
            <a:pPr>
              <a:spcAft>
                <a:spcPts val="600"/>
              </a:spcAft>
              <a:defRPr sz="1300">
                <a:solidFill>
                  <a:srgbClr val="1E293B"/>
                </a:solidFill>
                <a:latin typeface="Calibri"/>
              </a:defRPr>
            </a:pPr>
            <a:r>
              <a:t>   (now parses team questions, not project specs)</a:t>
            </a:r>
          </a:p>
          <a:p>
            <a:pPr>
              <a:spcAft>
                <a:spcPts val="600"/>
              </a:spcAft>
              <a:defRPr sz="1300">
                <a:solidFill>
                  <a:srgbClr val="1E293B"/>
                </a:solidFill>
                <a:latin typeface="Calibri"/>
              </a:defRPr>
            </a:pPr>
            <a:endParaRPr/>
          </a:p>
          <a:p>
            <a:pPr>
              <a:spcAft>
                <a:spcPts val="600"/>
              </a:spcAft>
              <a:defRPr sz="1300">
                <a:solidFill>
                  <a:srgbClr val="1E293B"/>
                </a:solidFill>
                <a:latin typeface="Calibri"/>
              </a:defRPr>
            </a:pPr>
            <a:r>
              <a:t>• Same production readiness path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2004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1E293B"/>
                </a:solidFill>
                <a:latin typeface="Calibri"/>
              </a:defRPr>
            </a:pPr>
            <a:r>
              <a:t>Summary &amp; Next Steps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48640" y="1234440"/>
            <a:ext cx="640080" cy="45720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48640" y="155448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2563EB"/>
                </a:solidFill>
                <a:latin typeface="Calibri"/>
              </a:defRPr>
            </a:pPr>
            <a:r>
              <a:t>Summary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965960"/>
            <a:ext cx="107899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>
                <a:solidFill>
                  <a:srgbClr val="1E293B"/>
                </a:solidFill>
                <a:latin typeface="Calibri"/>
              </a:defRPr>
            </a:pPr>
            <a:r>
              <a:t>• Engine repositioned from project matching to team diagnostics</a:t>
            </a:r>
          </a:p>
          <a:p>
            <a:pPr>
              <a:spcAft>
                <a:spcPts val="600"/>
              </a:spcAft>
              <a:defRPr sz="1400">
                <a:solidFill>
                  <a:srgbClr val="1E293B"/>
                </a:solidFill>
                <a:latin typeface="Calibri"/>
              </a:defRPr>
            </a:pPr>
            <a:r>
              <a:t>• Old 4 scoring functions retired — 6 absolute health scores replace them</a:t>
            </a:r>
          </a:p>
          <a:p>
            <a:pPr>
              <a:spcAft>
                <a:spcPts val="600"/>
              </a:spcAft>
              <a:defRPr sz="1400">
                <a:solidFill>
                  <a:srgbClr val="1E293B"/>
                </a:solidFill>
                <a:latin typeface="Calibri"/>
              </a:defRPr>
            </a:pPr>
            <a:r>
              <a:t>• Single mandatory hard filter: org scope (business / opu / division)</a:t>
            </a:r>
          </a:p>
          <a:p>
            <a:pPr>
              <a:spcAft>
                <a:spcPts val="600"/>
              </a:spcAft>
              <a:defRPr sz="1400">
                <a:solidFill>
                  <a:srgbClr val="1E293B"/>
                </a:solidFill>
                <a:latin typeface="Calibri"/>
              </a:defRPr>
            </a:pPr>
            <a:r>
              <a:t>• TPCP and CBS combined into a unified competency signal</a:t>
            </a:r>
          </a:p>
          <a:p>
            <a:pPr>
              <a:spcAft>
                <a:spcPts val="600"/>
              </a:spcAft>
              <a:defRPr sz="1400">
                <a:solidFill>
                  <a:srgbClr val="1E293B"/>
                </a:solidFill>
                <a:latin typeface="Calibri"/>
              </a:defRPr>
            </a:pPr>
            <a:r>
              <a:t>• Outputs pure JSON — narrative handled by the conversation layer</a:t>
            </a:r>
          </a:p>
          <a:p>
            <a:pPr>
              <a:spcAft>
                <a:spcPts val="600"/>
              </a:spcAft>
              <a:defRPr sz="1400">
                <a:solidFill>
                  <a:srgbClr val="1E293B"/>
                </a:solidFill>
                <a:latin typeface="Calibri"/>
              </a:defRPr>
            </a:pPr>
            <a:r>
              <a:t>• Answers all 16 HOD/GM questions across 4 analytical workflows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438912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CA8A04"/>
                </a:solidFill>
                <a:latin typeface="Calibri"/>
              </a:defRPr>
            </a:pPr>
            <a:r>
              <a:t>Decisions Needed Before Build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4800600"/>
            <a:ext cx="1078992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>
                <a:solidFill>
                  <a:srgbClr val="1E293B"/>
                </a:solidFill>
                <a:latin typeface="Calibri"/>
              </a:defRPr>
            </a:pPr>
            <a:r>
              <a:t>1.  Sign-off on the 6 health score formulas (weights are tunable, but the shape is fixed)</a:t>
            </a:r>
          </a:p>
          <a:p>
            <a:pPr>
              <a:spcAft>
                <a:spcPts val="600"/>
              </a:spcAft>
              <a:defRPr sz="1400">
                <a:solidFill>
                  <a:srgbClr val="1E293B"/>
                </a:solidFill>
                <a:latin typeface="Calibri"/>
              </a:defRPr>
            </a:pPr>
            <a:r>
              <a:t>2.  Confirm the action-triage thresholds (structural ≥ 60%, mixed 20–60%, people &lt; 20%)</a:t>
            </a:r>
          </a:p>
          <a:p>
            <a:pPr>
              <a:spcAft>
                <a:spcPts val="600"/>
              </a:spcAft>
              <a:defRPr sz="1400">
                <a:solidFill>
                  <a:srgbClr val="1E293B"/>
                </a:solidFill>
                <a:latin typeface="Calibri"/>
              </a:defRPr>
            </a:pPr>
            <a:r>
              <a:t>3.  Confirm the promotability criteria (score ≥ 0.75, tenure, passed TPCP, ≤ 3 gaps)</a:t>
            </a:r>
          </a:p>
          <a:p>
            <a:pPr>
              <a:spcAft>
                <a:spcPts val="600"/>
              </a:spcAft>
              <a:defRPr sz="1400">
                <a:solidFill>
                  <a:srgbClr val="1E293B"/>
                </a:solidFill>
                <a:latin typeface="Calibri"/>
              </a:defRPr>
            </a:pPr>
            <a:r>
              <a:t>4.  Approval to retire the /recommend endpoint and replace with /team/* endpoints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293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914400" y="228600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>
                <a:solidFill>
                  <a:srgbClr val="FFFFFF"/>
                </a:solidFill>
                <a:latin typeface="Calibri"/>
              </a:defRPr>
            </a:pPr>
            <a:r>
              <a:t>Ready to Build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347472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93C5FD"/>
                </a:solidFill>
                <a:latin typeface="Calibri"/>
              </a:defRPr>
            </a:pPr>
            <a:r>
              <a:t>Awaiting sign-off on scores, thresholds, and endpoint migration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475488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
                  <a:srgbClr val="FFFFFF"/>
                </a:solidFill>
                <a:latin typeface="Calibri"/>
              </a:defRPr>
            </a:pPr>
            <a:r>
              <a:t>Questions &amp; Discussion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95</TotalTime>
  <Words>3055</Words>
  <Application>Microsoft Office PowerPoint</Application>
  <PresentationFormat>Widescreen</PresentationFormat>
  <Paragraphs>380</Paragraphs>
  <Slides>19</Slides>
  <Notes>0</Notes>
  <HiddenSlides>2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2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Clement Low Fu Xing (AIDA/DIGITAL)</cp:lastModifiedBy>
  <cp:revision>2</cp:revision>
  <dcterms:created xsi:type="dcterms:W3CDTF">2013-01-27T09:14:16Z</dcterms:created>
  <dcterms:modified xsi:type="dcterms:W3CDTF">2026-05-07T11:22:38Z</dcterms:modified>
  <cp:category/>
</cp:coreProperties>
</file>