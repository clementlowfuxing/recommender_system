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CDWC Talent 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Calibri"/>
              </a:defRPr>
            </a:pPr>
            <a:r>
              <a:t>Rule-Based Heuristic Deterministic Computation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Proof of Concept  |  Technical Overview &amp; Product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1.  What is a Rule-Based Heuristic System?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2.  Why Rule-Based over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3.  System Architecture &amp; Data Flow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4.  The Recommendation Pipeline (4 Stages)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5.  Scoring Functions &amp; Weighted Aggregation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6.  Front-End Product: Form-Based UI &amp; Chat UI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7.  API Endpoints &amp; Integration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8.  Evaluation Framework &amp; POC Sign-Off Criteria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9.  Future Roadmap: Path to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What is a Rule-Based Heuristic System?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A heuristic is a practical shortcut that produces a 'good enough' answer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Domain knowledge is encoded as explicit rules and mathematical formulas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No machine learning, no training, no learned parameters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Fully deterministic: same input → same output, every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029200" cy="43891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Where It Fits in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Artificial Intelligence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├─ Symbolic AI (rule-based) ← THIS SYSTEM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│   ├─ Expert Systems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│   └─ Heuristic Search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└─ Statistical AI (data-driven)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├─ Machine Learning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    └─ Deep Learning / LLMs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All ML is AI, but not all AI is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Why Rule-Based over Machine Learning?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645920"/>
            <a:ext cx="36576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Rule-Based (This System)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645920"/>
            <a:ext cx="36576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7432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Labeled data required?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19456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Yes (thousands of examples)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Training infrastructure?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74320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74320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Training pipeline +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27432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29184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Full — every score traceable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29184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Varies (black box for neural nets)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Time to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384048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Fast — encode domain 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84048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Slower — data collection +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27432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438912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Update rules directly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389120"/>
            <a:ext cx="36576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Retrain, monitor for 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2743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Deterministic?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93776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Yes — always reproducible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4937760"/>
            <a:ext cx="3657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Depends on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Calibri"/>
              </a:defRPr>
            </a:pPr>
            <a:r>
              <a:t>Key insight: When labeled data is unavailable, rule-based is the recommended approach. It serves as both a working system and a baseline for future 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System Architecture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13716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Frontend</a:t>
            </a:r>
            <a:br/>
            <a:r>
              <a:t>(Vanilla JS / Streamlit)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828800"/>
            <a:ext cx="2011680" cy="1371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2286000" cy="13716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Recommendation</a:t>
            </a:r>
            <a:br/>
            <a:r>
              <a:t>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828800"/>
            <a:ext cx="2011680" cy="1371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500"/>
              </a:spcBef>
              <a:defRPr sz="1400" b="1">
                <a:solidFill>
                  <a:srgbClr val="1E293B"/>
                </a:solidFill>
                <a:latin typeface="Calibri"/>
              </a:defRPr>
            </a:pPr>
            <a:r>
              <a:t>Employee</a:t>
            </a:r>
            <a:br/>
            <a:r>
              <a:t>Data (JSON)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HTTP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Function call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Load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Data Sources Consumed: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EPDR (Employee Performance &amp; Development Review) — competency assessments, proficiency levels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SMA HRIS — skill groups, job/salary grades, CBS percentages, completion status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Item Catalog Report — competency inventories (technical &amp; behavioral)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HR Flex Report — supplementary HR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Recommendation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468880" cy="38404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Stage 1: Hard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Remove candidates who fail</a:t>
            </a:r>
            <a:br/>
            <a:r>
              <a:t>mandatory constraints:</a:t>
            </a:r>
            <a:br/>
            <a:r>
              <a:t>• Unavailable → rejected</a:t>
            </a:r>
            <a:br/>
            <a:r>
              <a:t>• Role level too low → rejected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468880" cy="38404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Stage 2: Feature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688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Compute 0–1 similarity scores:</a:t>
            </a:r>
            <a:br/>
            <a:r>
              <a:t>• Skill overlap (Jaccard)</a:t>
            </a:r>
            <a:br/>
            <a:r>
              <a:t>• Competency similarity</a:t>
            </a:r>
            <a:br/>
            <a:r>
              <a:t>• Experience similarity</a:t>
            </a:r>
            <a:br/>
            <a:r>
              <a:t>• Role match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468880" cy="38404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Stage 3: Weighted</a:t>
            </a:r>
            <a:br/>
            <a:r>
              <a:t>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Combine scores:</a:t>
            </a:r>
            <a:br/>
            <a:r>
              <a:t>  skill_overlap × 0.35</a:t>
            </a:r>
            <a:br/>
            <a:r>
              <a:t>+ competency × 0.25</a:t>
            </a:r>
            <a:br/>
            <a:r>
              <a:t>+ experience × 0.20</a:t>
            </a:r>
            <a:br/>
            <a:r>
              <a:t>+ role_match × 0.20</a:t>
            </a:r>
            <a:br/>
            <a:r>
              <a:t>= total_score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463040"/>
            <a:ext cx="2468880" cy="38404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Stage 4: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46888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Sort candidates by</a:t>
            </a:r>
            <a:br/>
            <a:r>
              <a:t>total_score descending.</a:t>
            </a:r>
            <a:br/>
            <a:br/>
            <a:r>
              <a:t>Return Top-K results</a:t>
            </a:r>
            <a:br/>
            <a:r>
              <a:t>(default K=5) with full</a:t>
            </a:r>
            <a:br/>
            <a:r>
              <a:t>score breakdowns.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Scoring Functions &amp; Weighted Aggregation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2860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Function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463040"/>
            <a:ext cx="41148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463040"/>
            <a:ext cx="41148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It Measures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2860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Skill Overlap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011680"/>
            <a:ext cx="4114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|intersection| / |required|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2011680"/>
            <a:ext cx="4114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How many required skills the candidate has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286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Competency</a:t>
            </a:r>
            <a:br/>
            <a:r>
              <a:t>Similarity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74320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1 − (|candidate − required| / 5.0)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274320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How close competency is to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22860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Experience</a:t>
            </a:r>
            <a:br/>
            <a:r>
              <a:t>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3474720"/>
            <a:ext cx="4114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min(candidate_yrs / required, 1.0)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474720"/>
            <a:ext cx="411480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Whether experience meets the minimum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2286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Role Match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20624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1.0 exact | 0.5 overqualified | 0.0 under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4206240"/>
            <a:ext cx="4114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Seniority 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0515600" cy="1371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Weighted Aggregation Formula: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Calibri"/>
              </a:defRPr>
            </a:pPr>
            <a:r>
              <a:t>Total Score = (0.35 × Skill Overlap) + (0.25 × Competency) + (0.20 × Experience) + (0.20 × Role Match)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Front-End Product: Form-Based Search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Form Search UI — localhost:8000/ui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Skills: [python, machine_learning, sql]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                                 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Min Competency:  [====●=====] 3.0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Min Experience:  [==●=======] 2 yrs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                                 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Role Level:  ○ Junior  ● Mid  ○ Senior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☑ Available only                 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                                 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│  [ 🔍 Search Talent ]                    │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Pure vanilla HTML/CSS/JS — zero framework dependencies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Served directly by FastAPI at /ui endpoint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Two search modes: Form-based &amp; Chat-based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Form mode calls POST /recommend directly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Chat mode calls POST /chat (NLP parsing)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Real-time result cards with score breakdowns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Skill tags, department info, experience display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Responsive design — works on mobile &amp; desktop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CORS-enabled for cross-origin deployment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Role levels loaded dynamically from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Front-End Product: Result Cards &amp; Chat Mode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4864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Result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1. Alice Johnson — Score: 0.87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Engineering · Senior · 8 yrs experience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Skills: python | ml | sql | tensorflow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Skill 92% | Competency 85% | Exp 80% | Role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4754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2. Bob Smith — Score: 0.74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Data Science · Mid · 5 yrs experience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Skills: python | sql | pandas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   Skill 78% | Competency 70% | Exp 72% | Role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303520" cy="43891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Chat Search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Natural language input — same as Streamlit: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User: "I need a senior Python developer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       with ML experience, 5+ years"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System parses → extracts structured query →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calls recommendation engine → returns results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Two parser backends available: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MockParser — keyword-based, zero dependencies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  • LLMParser — OpenAI-powered (optional)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API Endpoints &amp; Integration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9260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Endpoint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1371600"/>
            <a:ext cx="7772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01952"/>
            <a:ext cx="292608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POST /recommend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901952"/>
            <a:ext cx="77724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Core endpoint — accepts structured project requirements, returns ranked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32304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POST /chat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432304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Natural language endpoint — accepts plain English, parses and returns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292608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962656"/>
            <a:ext cx="77724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Liveness check for monitoring and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93008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493008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Paginated audit trail of all recommendation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292608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/history/{id}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4023360"/>
            <a:ext cx="77724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Retrieve a specific historical recommendation by request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53712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/config/weights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553712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View current scoring weights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84064"/>
            <a:ext cx="292608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PUT /config/weights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5084064"/>
            <a:ext cx="77724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Update scoring weights at runtime (must sum to 1.0)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614416"/>
            <a:ext cx="2926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/config/role-levels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5614416"/>
            <a:ext cx="7772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List available role levels for UI dropdowns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144768"/>
            <a:ext cx="292608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GET /docs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6144768"/>
            <a:ext cx="77724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E293B"/>
                </a:solidFill>
                <a:latin typeface="Calibri"/>
              </a:defRPr>
            </a:pPr>
            <a:r>
              <a:t>Auto-generated interactive API documentation (Swagger UI)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Evaluation Framework &amp;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Precision@K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804672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Of the top K recommendations, how many are relevant?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Recall@K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011680"/>
            <a:ext cx="8046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Of all relevant candidates, how many appear in top 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74320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NDCG@K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651760"/>
            <a:ext cx="804672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Are relevant candidates ranked higher? (position-aware)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291840"/>
            <a:ext cx="8046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Are recommendations from varied departments?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274320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Fairness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931920"/>
            <a:ext cx="804672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Does department representation reflect the eligible pool?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27432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Ranking Stability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572000"/>
            <a:ext cx="80467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93B"/>
                </a:solidFill>
                <a:latin typeface="Calibri"/>
              </a:defRPr>
            </a:pPr>
            <a:r>
              <a:t>Do rankings hold under small weight perturbations? (Kendall's τ)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0789920" cy="109728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8A04"/>
                </a:solidFill>
                <a:latin typeface="Calibri"/>
              </a:defRPr>
            </a:pPr>
            <a:r>
              <a:t>Stability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Weights are perturbed by ±5% across 10 iterations. Kendall's Tau measures ranking consistency. High stability (τ ≈ 1.0) confirms the system is robust and not overly sensitive to exact weight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POC Sign-Off Criteria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57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Quantitative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Precision@5 ≥ 70% on expert-</a:t>
            </a:r>
            <a:br/>
            <a:r>
              <a:t>   reviewed scenarios (min 25)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Hit Rate@5 ≥ 60% on historical</a:t>
            </a:r>
            <a:br/>
            <a:r>
              <a:t>   assignment data (if available)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Outperforms random baseline</a:t>
            </a:r>
            <a:br/>
            <a:r>
              <a:t>   by ≥ 2x on Precision@5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Ranking Stability (τ) ≥ 0.8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371600"/>
            <a:ext cx="3474720" cy="45720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Qualitative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Domain experts agree rankings</a:t>
            </a:r>
            <a:br/>
            <a:r>
              <a:t>   'make sense' for ≥ 80% of cases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Passes all edge case scenarios</a:t>
            </a:r>
            <a:br/>
            <a:r>
              <a:t>   without nonsensical results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Response time &lt; 2 seconds</a:t>
            </a:r>
            <a:br/>
            <a:r>
              <a:t>   for recommendation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474720" cy="4572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Handles full employee dataset</a:t>
            </a:r>
            <a:br/>
            <a:r>
              <a:t>   without errors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Results are fully reproducible</a:t>
            </a:r>
            <a:br/>
            <a:r>
              <a:t>   (deterministic)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☐ API documentation complete</a:t>
            </a:r>
            <a:br/>
            <a:r>
              <a:t>   and accessible at /docs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Future Roadmap: Path to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68880" cy="36576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Phase 1 (Current)</a:t>
            </a:r>
            <a:br/>
            <a:r>
              <a:t>Rule-Based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Hand-crafted heuristic scoring</a:t>
            </a:r>
            <a:br/>
            <a:r>
              <a:t>• Deterministic, explainable</a:t>
            </a:r>
            <a:br/>
            <a:r>
              <a:t>• No labeled data needed</a:t>
            </a:r>
            <a:br/>
            <a:r>
              <a:t>• Serves as ML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468880" cy="36576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Phase 2</a:t>
            </a:r>
            <a:br/>
            <a: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Collect match outcomes</a:t>
            </a:r>
            <a:br/>
            <a:r>
              <a:t>• Manager ratings on fit</a:t>
            </a:r>
            <a:br/>
            <a:r>
              <a:t>• Expert panel scoring</a:t>
            </a:r>
            <a:br/>
            <a:r>
              <a:t>• Build labeled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45920"/>
            <a:ext cx="2468880" cy="3657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Phase 3</a:t>
            </a:r>
            <a:br/>
            <a:r>
              <a:t>Hybrid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Keep rule-based features</a:t>
            </a:r>
            <a:br/>
            <a:r>
              <a:t>• ML learns optimal weights</a:t>
            </a:r>
            <a:br/>
            <a:r>
              <a:t>• XGBoost / LightGBM</a:t>
            </a:r>
            <a:br/>
            <a:r>
              <a:t>• A/B test vs rule-based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2468880" cy="365760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Phase 4</a:t>
            </a:r>
            <a:br/>
            <a:r>
              <a:t>Full ML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3464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• End-to-end learned model</a:t>
            </a:r>
            <a:br/>
            <a:r>
              <a:t>• Learning to Rank</a:t>
            </a:r>
            <a:br/>
            <a:r>
              <a:t>• Continuous retraining</a:t>
            </a:r>
            <a:br/>
            <a:r>
              <a:t>• Drift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Recommended hybrid approach: keep existing features as engineered inputs, use ML to learn optimal weights — replacing the hand-tuned 0.35/0.25/0.20/0.20 with data-driven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3C5FD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API Docs: http://localhost:8000/docs   |   UI: http://localhost:8000/ui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